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D.A.K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Digital Access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POC Development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Segoe UI"/>
              </a:defRPr>
            </a:pPr>
            <a:r>
              <a:t>Scope of POC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A fully functional multi-portal faith-community platform built and deployed with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02920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Segoe UI"/>
              </a:rPr>
              <a:t>Admin Portal (Port 3001)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Platform admin dashboard — approve communities, view GMV, manage users, payment tracking, waiting list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84448"/>
            <a:ext cx="502920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84448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3016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Segoe UI"/>
              </a:rPr>
              <a:t>Institute Portal (Port 3002)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Community admin — manage branding/settings, create events, schedule &amp; run live streams, messaging with members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34256"/>
            <a:ext cx="502920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34256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7997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Segoe UI"/>
              </a:rPr>
              <a:t>User Portal (Port 3003)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End user experience — join via invite, community overview with live stream, support widget, upcoming events, calendar, messaging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84064"/>
            <a:ext cx="502920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84064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2978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Segoe UI"/>
              </a:rPr>
              <a:t>API Backend (Port 3000)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Node.js/Express REST API with PostgreSQL — JWT auth, role-based access, 16+ API endpoint groups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833872"/>
            <a:ext cx="5029200" cy="6400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833872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795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2937"/>
                </a:solidFill>
                <a:latin typeface="Segoe UI"/>
              </a:rPr>
              <a:t>Docker Compose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Full orchestration of all 5 services (DB, API, Admin, Institute, User) — one-command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KEY FEATURES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34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Controlled Access</a:t>
            </a:r>
            <a:r>
              <a:rPr sz="1000">
                <a:solidFill>
                  <a:srgbClr val="999999"/>
                </a:solidFill>
                <a:latin typeface="Segoe UI"/>
              </a:rPr>
              <a:t>  —  QR/Invite-only onboarding, Chinese-wall isolation across 4 community types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87121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552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Live Streaming</a:t>
            </a:r>
            <a:r>
              <a:rPr sz="1000">
                <a:solidFill>
                  <a:srgbClr val="999999"/>
                </a:solidFill>
                <a:latin typeface="Segoe UI"/>
              </a:rPr>
              <a:t>  —  Embedded player with LIVE badge, viewer count, full playback controls, recording gating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32918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758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Support &amp; Payments</a:t>
            </a:r>
            <a:r>
              <a:rPr sz="1000">
                <a:solidFill>
                  <a:srgbClr val="999999"/>
                </a:solidFill>
                <a:latin typeface="Segoe UI"/>
              </a:rPr>
              <a:t>  —  One-time/Monthly toggle, preset amounts ($16/$36/$100/$250), custom input, 5% platform fee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371246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0965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Events &amp; Calendar</a:t>
            </a:r>
            <a:r>
              <a:rPr sz="1000">
                <a:solidFill>
                  <a:srgbClr val="999999"/>
                </a:solidFill>
                <a:latin typeface="Segoe UI"/>
              </a:rPr>
              <a:t>  —  Create/manage events, upcoming events sidebar, mini calendar widget with event dots, ICS export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413308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51713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Private Messaging</a:t>
            </a:r>
            <a:r>
              <a:rPr sz="1000">
                <a:solidFill>
                  <a:srgbClr val="999999"/>
                </a:solidFill>
                <a:latin typeface="Segoe UI"/>
              </a:rPr>
              <a:t>  —  Threaded User-Admin inbox, real-time threads, block capability</a:t>
            </a:r>
          </a:p>
        </p:txBody>
      </p:sp>
      <p:sp>
        <p:nvSpPr>
          <p:cNvPr id="35" name="Oval 34"/>
          <p:cNvSpPr/>
          <p:nvPr/>
        </p:nvSpPr>
        <p:spPr>
          <a:xfrm>
            <a:off x="6217920" y="455371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937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Community Management</a:t>
            </a:r>
            <a:r>
              <a:rPr sz="1000">
                <a:solidFill>
                  <a:srgbClr val="999999"/>
                </a:solidFill>
                <a:latin typeface="Segoe UI"/>
              </a:rPr>
              <a:t>  —  Onboarding, branding settings, member management, stream scheduling &amp; limits</a:t>
            </a:r>
          </a:p>
        </p:txBody>
      </p:sp>
      <p:sp>
        <p:nvSpPr>
          <p:cNvPr id="37" name="Oval 36"/>
          <p:cNvSpPr/>
          <p:nvPr/>
        </p:nvSpPr>
        <p:spPr>
          <a:xfrm>
            <a:off x="6217920" y="497433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35838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Admin Dashboard</a:t>
            </a:r>
            <a:r>
              <a:rPr sz="1000">
                <a:solidFill>
                  <a:srgbClr val="999999"/>
                </a:solidFill>
                <a:latin typeface="Segoe UI"/>
              </a:rPr>
              <a:t>  —  Platform metrics (GMV, users, subscribers), community approval/suspend, payment tracking</a:t>
            </a:r>
          </a:p>
        </p:txBody>
      </p:sp>
      <p:sp>
        <p:nvSpPr>
          <p:cNvPr id="39" name="Oval 38"/>
          <p:cNvSpPr/>
          <p:nvPr/>
        </p:nvSpPr>
        <p:spPr>
          <a:xfrm>
            <a:off x="6217920" y="53949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7790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Notifications</a:t>
            </a:r>
            <a:r>
              <a:rPr sz="1000">
                <a:solidFill>
                  <a:srgbClr val="999999"/>
                </a:solidFill>
                <a:latin typeface="Segoe UI"/>
              </a:rPr>
              <a:t>  —  In-app notification bell with unread count, mark-all-read, event/stream/message alerts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581558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6199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  </a:t>
            </a:r>
            <a:r>
              <a:rPr sz="1200" b="1">
                <a:solidFill>
                  <a:srgbClr val="1F2937"/>
                </a:solidFill>
                <a:latin typeface="Segoe UI"/>
              </a:rPr>
              <a:t>Responsive UI</a:t>
            </a:r>
            <a:r>
              <a:rPr sz="1000">
                <a:solidFill>
                  <a:srgbClr val="999999"/>
                </a:solidFill>
                <a:latin typeface="Segoe UI"/>
              </a:rPr>
              <a:t>  —  Apple-inspired design, two-column overview layout, Star of David branding, mobile-ready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623620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D.A.K — Digital Access 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D.A.K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Digital Access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POC Development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Segoe UI"/>
              </a:defRPr>
            </a:pPr>
            <a:r>
              <a:t>Timeline to Build &amp; Demo the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4-week sprint plan from kickoff to live demo — single full-stack developer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560320" cy="34747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606040"/>
            <a:ext cx="8229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"/>
              </a:defRPr>
            </a:pPr>
            <a:r>
              <a:t>Infrastructure &amp;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VPS/Docker environment setup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PostgreSQL schema &amp; seed data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JWT authentication system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OAuth integration (Google/Apple)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Email verification flow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Role-based access control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10127" y="4023360"/>
            <a:ext cx="109728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2468880"/>
            <a:ext cx="2560320" cy="347472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2606040"/>
            <a:ext cx="8229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"/>
              </a:defRPr>
            </a:pPr>
            <a:r>
              <a:t>Payment &amp; Core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375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Stripe sandbox integration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One-time &amp; recurring payments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Webhook handlers &amp; refunds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Support widget with presets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Platform fee (sliding scale)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Access duration logic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07607" y="4023360"/>
            <a:ext cx="109728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79" y="2468880"/>
            <a:ext cx="2560320" cy="34747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606040"/>
            <a:ext cx="8229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"/>
              </a:defRPr>
            </a:pPr>
            <a:r>
              <a:t>Features &amp; UI Polish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3375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Live streaming (WebRTC/HLS)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Stream scheduling &amp; limits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Push &amp; email notifications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Calendar &amp; events system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Admin dashboard analytics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UI/UX polish to match mockup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05088" y="4023360"/>
            <a:ext cx="109728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23960" y="2468880"/>
            <a:ext cx="2560320" cy="347472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0" y="2606040"/>
            <a:ext cx="82296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WEEK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"/>
              </a:defRPr>
            </a:pPr>
            <a:r>
              <a:t>Testing &amp;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3375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End-to-end integration tests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Security audit &amp; hardening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Load &amp; performance testing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Bug fixes &amp; UAT support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Documentation &amp; handover</a:t>
            </a:r>
          </a:p>
          <a:p>
            <a:pPr>
              <a:spcBef>
                <a:spcPts val="500"/>
              </a:spcBef>
              <a:defRPr sz="1100">
                <a:solidFill>
                  <a:srgbClr val="1F2937"/>
                </a:solidFill>
                <a:latin typeface="Segoe UI"/>
              </a:defRPr>
            </a:pPr>
            <a:r>
              <a:t>  Production deployment &amp;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KEY MILESTONES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Segoe UI"/>
              </a:rPr>
              <a:t>Day 1:</a:t>
            </a:r>
            <a:r>
              <a:rPr sz="1100">
                <a:solidFill>
                  <a:srgbClr val="999999"/>
                </a:solidFill>
                <a:latin typeface="Segoe UI"/>
              </a:rPr>
              <a:t> Kickoff &amp; environment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63550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Segoe UI"/>
              </a:rPr>
              <a:t>Week 2:</a:t>
            </a:r>
            <a:r>
              <a:rPr sz="1100">
                <a:solidFill>
                  <a:srgbClr val="999999"/>
                </a:solidFill>
                <a:latin typeface="Segoe UI"/>
              </a:rPr>
              <a:t> Payment flow end-to-end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63550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Segoe UI"/>
              </a:rPr>
              <a:t>Week 3:</a:t>
            </a:r>
            <a:r>
              <a:rPr sz="1100">
                <a:solidFill>
                  <a:srgbClr val="999999"/>
                </a:solidFill>
                <a:latin typeface="Segoe UI"/>
              </a:rPr>
              <a:t> Feature-complete internal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63550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7"/>
                </a:solidFill>
                <a:latin typeface="Segoe UI"/>
              </a:rPr>
              <a:t>Week 4:</a:t>
            </a:r>
            <a:r>
              <a:rPr sz="1100">
                <a:solidFill>
                  <a:srgbClr val="999999"/>
                </a:solidFill>
                <a:latin typeface="Segoe UI"/>
              </a:rPr>
              <a:t> Live demo to stakeholders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D.A.K — Digital Access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D.A.K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Digital Access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POC Development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Segoe UI"/>
              </a:defRPr>
            </a:pPr>
            <a:r>
              <a:t>Cost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Development, infrastructure &amp; operational costs for the POC 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474720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DEVELOPMENT COST (ONE-TIME)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Week 1: Infrastructure &amp;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5" y="29260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$2,500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8211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Week 2: Payment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5" y="324612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5021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Week 3: Features &amp; Polish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5" y="35661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2219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Week 4: Testing &amp;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2615" y="3886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$1,500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422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251959"/>
            <a:ext cx="31089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399"/>
            <a:ext cx="1911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Development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343399"/>
            <a:ext cx="1563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$8,500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2377440"/>
            <a:ext cx="3474720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INFRASTRUCTURE (MONTHLY)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92608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VPS Server (4 vCPU, 8GB)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29260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$40/mo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18211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24612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Domain &amp; SSL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24612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$15/mo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5021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56616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Email Service (SES/SendGrid)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35661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$20/mo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82219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88620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Streaming CDN (basic)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3886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$50/mo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41422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420624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Backups &amp;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420624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$25/mo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446227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4571999"/>
            <a:ext cx="31089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4663439"/>
            <a:ext cx="1911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Monthly 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663439"/>
            <a:ext cx="1563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$150/mo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2377440"/>
            <a:ext cx="3474720" cy="25603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THIRD-PARTY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92608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Stripe Processing Fee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0696" y="29260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2.9% + $0.30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318211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24612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OAuth (Google/Apple)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0696" y="324612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5021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356616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Push Notifications (Firebase)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0696" y="35661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Free tier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382219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88620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Streaming (usage-based)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0696" y="3886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~$0.01/min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41422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0" y="4251959"/>
            <a:ext cx="31089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4343399"/>
            <a:ext cx="1911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Variable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6960" y="4343399"/>
            <a:ext cx="1563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Usage-based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5120640"/>
            <a:ext cx="502920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5257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TOTAL INVESTMENT SUMMARY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" y="566927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One-Time Development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97580" y="5669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$8,500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5925312"/>
            <a:ext cx="466344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4400" y="598931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Infrastructure (3 months)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97580" y="598931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$450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6245351"/>
            <a:ext cx="466344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630935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Contingency (10%)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7580" y="63093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$895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" y="6565391"/>
            <a:ext cx="466344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4400" y="6675119"/>
            <a:ext cx="466344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6766559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POC Total Investment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46120" y="6766559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$9,845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35040" y="5120640"/>
            <a:ext cx="5669280" cy="1554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ASSUMPTIONS &amp; NOTES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54864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Development rate: ~$60/hr (mid-market full-stack rate)</a:t>
            </a:r>
          </a:p>
          <a:p>
            <a:pPr>
              <a:spcBef>
                <a:spcPts val="3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VPS: DigitalOcean/Hetzner tier with Docker pre-installed</a:t>
            </a:r>
          </a:p>
          <a:p>
            <a:pPr>
              <a:spcBef>
                <a:spcPts val="3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Streaming costs scale with usage — estimates for POC testing phase</a:t>
            </a:r>
          </a:p>
          <a:p>
            <a:pPr>
              <a:spcBef>
                <a:spcPts val="3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Excludes: Mobile apps, dedicated support, multi-region deployment</a:t>
            </a:r>
          </a:p>
          <a:p>
            <a:pPr>
              <a:spcBef>
                <a:spcPts val="3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Timeline assumes single developer, can accelerate with team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D.A.K — Digital Access Key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