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78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C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228600"/>
            <a:ext cx="11460175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563EB"/>
                </a:solidFill>
                <a:latin typeface="Segoe UI"/>
              </a:defRPr>
            </a:pPr>
            <a:r>
              <a:t>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Segoe UI"/>
              </a:defRPr>
            </a:pPr>
            <a:r>
              <a:t>D.A.K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474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POC Development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2937"/>
                </a:solidFill>
                <a:latin typeface="Segoe UI"/>
              </a:defRPr>
            </a:pPr>
            <a:r>
              <a:t>Scope of POC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44168"/>
            <a:ext cx="1645920" cy="320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Segoe UI"/>
              </a:defRPr>
            </a:pPr>
            <a:r>
              <a:t>Multi-portal faith-community platform with Spiritual AI Guru Bot, VPS deployment &amp; Docker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486400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Segoe UI"/>
              </a:defRPr>
            </a:pPr>
            <a:r>
              <a:t>Platform Architecture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011680"/>
            <a:ext cx="64008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7240" y="2194560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221991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Admin Portal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3230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Platform admin — approve communities, view GMV, manage users, payments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43200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77240" y="2743200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2770632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Institute Portal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98094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Community admin — branding, events, live streams, messaging with members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291840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77240" y="3291840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3319272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User Portal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52958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End user — community overview, live stream, support widget, events, calendar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840480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77240" y="3840480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3867912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API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07822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Node.js/Express + PostgreSQL — JWT auth, role-based access, 16+ endpoints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389120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77240" y="4389120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4416552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Spiritual AI Guru Bot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62686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AI-powered spiritual chatbot — faith-specific guidance, scripture references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37759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77240" y="4937759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" y="4965192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VPS &amp; Docker 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175503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Production VPS, Docker orchestration, SSL/TLS, domain, monitoring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1600200"/>
            <a:ext cx="5577840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9224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Segoe UI"/>
              </a:defRPr>
            </a:pPr>
            <a:r>
              <a:t>Key Features in Scope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2011680"/>
            <a:ext cx="64008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492240" y="224942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221284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Controlled Access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QR/Invite-only onboarding, Chinese-wall isolation, 4 community types</a:t>
            </a:r>
          </a:p>
        </p:txBody>
      </p:sp>
      <p:sp>
        <p:nvSpPr>
          <p:cNvPr id="41" name="Oval 40"/>
          <p:cNvSpPr/>
          <p:nvPr/>
        </p:nvSpPr>
        <p:spPr>
          <a:xfrm>
            <a:off x="6492240" y="261518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257860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Live Streaming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Embedded player, LIVE badge, viewer count, playback controls, recording gating</a:t>
            </a:r>
          </a:p>
        </p:txBody>
      </p:sp>
      <p:sp>
        <p:nvSpPr>
          <p:cNvPr id="43" name="Oval 42"/>
          <p:cNvSpPr/>
          <p:nvPr/>
        </p:nvSpPr>
        <p:spPr>
          <a:xfrm>
            <a:off x="6492240" y="298094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294436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Support &amp; Payments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One-time/Monthly, $16/$36/$100/$250 presets, 5% platform fee</a:t>
            </a:r>
          </a:p>
        </p:txBody>
      </p:sp>
      <p:sp>
        <p:nvSpPr>
          <p:cNvPr id="45" name="Oval 44"/>
          <p:cNvSpPr/>
          <p:nvPr/>
        </p:nvSpPr>
        <p:spPr>
          <a:xfrm>
            <a:off x="6492240" y="3346703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3310127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Events &amp; Calendar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Event management, upcoming events sidebar, mini calendar, ICS export</a:t>
            </a:r>
          </a:p>
        </p:txBody>
      </p:sp>
      <p:sp>
        <p:nvSpPr>
          <p:cNvPr id="47" name="Oval 46"/>
          <p:cNvSpPr/>
          <p:nvPr/>
        </p:nvSpPr>
        <p:spPr>
          <a:xfrm>
            <a:off x="6492240" y="3712463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3675887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Spiritual AI Guru Bot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Faith-specific AI chatbot, scripture Q&amp;A, community-context aware</a:t>
            </a:r>
          </a:p>
        </p:txBody>
      </p:sp>
      <p:sp>
        <p:nvSpPr>
          <p:cNvPr id="49" name="Oval 48"/>
          <p:cNvSpPr/>
          <p:nvPr/>
        </p:nvSpPr>
        <p:spPr>
          <a:xfrm>
            <a:off x="6492240" y="4078223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4041647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Private Messaging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Threaded User↔Admin inbox, real-time, block capability</a:t>
            </a:r>
          </a:p>
        </p:txBody>
      </p:sp>
      <p:sp>
        <p:nvSpPr>
          <p:cNvPr id="51" name="Oval 50"/>
          <p:cNvSpPr/>
          <p:nvPr/>
        </p:nvSpPr>
        <p:spPr>
          <a:xfrm>
            <a:off x="6492240" y="4443983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0840" y="4407407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Community Management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Onboarding, branding, member management, stream scheduling</a:t>
            </a:r>
          </a:p>
        </p:txBody>
      </p:sp>
      <p:sp>
        <p:nvSpPr>
          <p:cNvPr id="53" name="Oval 52"/>
          <p:cNvSpPr/>
          <p:nvPr/>
        </p:nvSpPr>
        <p:spPr>
          <a:xfrm>
            <a:off x="6492240" y="480974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477316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Admin Dashboard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GMV, users, subscribers metrics, community approve/suspend</a:t>
            </a:r>
          </a:p>
        </p:txBody>
      </p:sp>
      <p:sp>
        <p:nvSpPr>
          <p:cNvPr id="55" name="Oval 54"/>
          <p:cNvSpPr/>
          <p:nvPr/>
        </p:nvSpPr>
        <p:spPr>
          <a:xfrm>
            <a:off x="6492240" y="517550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20840" y="513892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VPS Production Setup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Server provisioning, Docker deploy, SSL, domain, backups</a:t>
            </a:r>
          </a:p>
        </p:txBody>
      </p:sp>
      <p:sp>
        <p:nvSpPr>
          <p:cNvPr id="57" name="Oval 56"/>
          <p:cNvSpPr/>
          <p:nvPr/>
        </p:nvSpPr>
        <p:spPr>
          <a:xfrm>
            <a:off x="6492240" y="554126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550468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Responsive UI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Apple-inspired design, two-column layout, Star of David branding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92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  <a:latin typeface="Segoe UI"/>
              </a:defRPr>
            </a:pPr>
            <a:r>
              <a:t>D.A.K — Digital Access Key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0" y="6492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CA3AF"/>
                </a:solidFill>
                <a:latin typeface="Segoe UI"/>
              </a:defRPr>
            </a:pPr>
            <a: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C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228600"/>
            <a:ext cx="11460175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563EB"/>
                </a:solidFill>
                <a:latin typeface="Segoe UI"/>
              </a:defRPr>
            </a:pPr>
            <a:r>
              <a:t>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Segoe UI"/>
              </a:defRPr>
            </a:pPr>
            <a:r>
              <a:t>D.A.K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474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POC Development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2937"/>
                </a:solidFill>
                <a:latin typeface="Segoe UI"/>
              </a:defRPr>
            </a:pPr>
            <a:r>
              <a:t>Timeline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44168"/>
            <a:ext cx="1645920" cy="320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Segoe UI"/>
              </a:defRPr>
            </a:pPr>
            <a:r>
              <a:t>8–10 week development plan including VPS setup &amp; Spiritual AI Guru Bot — single full-stack developer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210312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2103120" cy="8229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66928" y="1801368"/>
            <a:ext cx="86868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WEEK 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18836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Segoe UI"/>
              </a:defRPr>
            </a:pPr>
            <a:r>
              <a:t>VPS Setup &amp;</a:t>
            </a:r>
            <a:br/>
            <a:r>
              <a:t>Infrastructure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266090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6060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VPS provisioning &amp; config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291693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28620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Docker environment setup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3172968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1181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PostgreSQL schema &amp; seeds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3429000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33741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SSL/TLS &amp; domain setup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3685032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6301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CI/CD pipeline basics</a:t>
            </a:r>
          </a:p>
        </p:txBody>
      </p:sp>
      <p:sp>
        <p:nvSpPr>
          <p:cNvPr id="23" name="Oval 22"/>
          <p:cNvSpPr/>
          <p:nvPr/>
        </p:nvSpPr>
        <p:spPr>
          <a:xfrm>
            <a:off x="594360" y="394106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38862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JWT auth &amp; OAuth</a:t>
            </a:r>
          </a:p>
        </p:txBody>
      </p:sp>
      <p:sp>
        <p:nvSpPr>
          <p:cNvPr id="25" name="Oval 24"/>
          <p:cNvSpPr/>
          <p:nvPr/>
        </p:nvSpPr>
        <p:spPr>
          <a:xfrm>
            <a:off x="594360" y="419709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414223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Role-based access control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569463" y="3474720"/>
            <a:ext cx="91440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670048" y="1691640"/>
            <a:ext cx="210312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670048" y="1691640"/>
            <a:ext cx="2103120" cy="822960"/>
          </a:xfrm>
          <a:prstGeom prst="rect">
            <a:avLst/>
          </a:prstGeom>
          <a:solidFill>
            <a:srgbClr val="D1FAE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779776" y="1801368"/>
            <a:ext cx="86868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WEEK 3–4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79776" y="2121408"/>
            <a:ext cx="18836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Segoe UI"/>
              </a:defRPr>
            </a:pPr>
            <a:r>
              <a:t>Core Platform</a:t>
            </a:r>
            <a:br/>
            <a:r>
              <a:t>Development</a:t>
            </a:r>
          </a:p>
        </p:txBody>
      </p:sp>
      <p:sp>
        <p:nvSpPr>
          <p:cNvPr id="32" name="Oval 31"/>
          <p:cNvSpPr/>
          <p:nvPr/>
        </p:nvSpPr>
        <p:spPr>
          <a:xfrm>
            <a:off x="2807208" y="266090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26080" y="26060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3 portal UIs (Admin,</a:t>
            </a:r>
            <a:br/>
            <a:r>
              <a:t>  Institute, User)</a:t>
            </a:r>
          </a:p>
        </p:txBody>
      </p:sp>
      <p:sp>
        <p:nvSpPr>
          <p:cNvPr id="34" name="Oval 33"/>
          <p:cNvSpPr/>
          <p:nvPr/>
        </p:nvSpPr>
        <p:spPr>
          <a:xfrm>
            <a:off x="2807208" y="291693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926080" y="28620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Community management</a:t>
            </a:r>
          </a:p>
        </p:txBody>
      </p:sp>
      <p:sp>
        <p:nvSpPr>
          <p:cNvPr id="36" name="Oval 35"/>
          <p:cNvSpPr/>
          <p:nvPr/>
        </p:nvSpPr>
        <p:spPr>
          <a:xfrm>
            <a:off x="2807208" y="3172968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926080" y="31181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Events &amp; calendar system</a:t>
            </a:r>
          </a:p>
        </p:txBody>
      </p:sp>
      <p:sp>
        <p:nvSpPr>
          <p:cNvPr id="38" name="Oval 37"/>
          <p:cNvSpPr/>
          <p:nvPr/>
        </p:nvSpPr>
        <p:spPr>
          <a:xfrm>
            <a:off x="2807208" y="3429000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926080" y="33741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Live streaming integration</a:t>
            </a:r>
          </a:p>
        </p:txBody>
      </p:sp>
      <p:sp>
        <p:nvSpPr>
          <p:cNvPr id="40" name="Oval 39"/>
          <p:cNvSpPr/>
          <p:nvPr/>
        </p:nvSpPr>
        <p:spPr>
          <a:xfrm>
            <a:off x="2807208" y="3685032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926080" y="36301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Messaging system</a:t>
            </a:r>
          </a:p>
        </p:txBody>
      </p:sp>
      <p:sp>
        <p:nvSpPr>
          <p:cNvPr id="42" name="Oval 41"/>
          <p:cNvSpPr/>
          <p:nvPr/>
        </p:nvSpPr>
        <p:spPr>
          <a:xfrm>
            <a:off x="2807208" y="394106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926080" y="38862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Notifications engine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4782312" y="3474720"/>
            <a:ext cx="91440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4882896" y="1691640"/>
            <a:ext cx="210312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882896" y="1691640"/>
            <a:ext cx="2103120" cy="822960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992624" y="1801368"/>
            <a:ext cx="86868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WEEK 5–6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92624" y="2121408"/>
            <a:ext cx="18836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Segoe UI"/>
              </a:defRPr>
            </a:pPr>
            <a:r>
              <a:t>Payments &amp;</a:t>
            </a:r>
            <a:br/>
            <a:r>
              <a:t>Access System</a:t>
            </a:r>
          </a:p>
        </p:txBody>
      </p:sp>
      <p:sp>
        <p:nvSpPr>
          <p:cNvPr id="49" name="Oval 48"/>
          <p:cNvSpPr/>
          <p:nvPr/>
        </p:nvSpPr>
        <p:spPr>
          <a:xfrm>
            <a:off x="5020056" y="266090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138928" y="26060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Stripe sandbox integration</a:t>
            </a:r>
          </a:p>
        </p:txBody>
      </p:sp>
      <p:sp>
        <p:nvSpPr>
          <p:cNvPr id="51" name="Oval 50"/>
          <p:cNvSpPr/>
          <p:nvPr/>
        </p:nvSpPr>
        <p:spPr>
          <a:xfrm>
            <a:off x="5020056" y="291693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138928" y="28620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One-time &amp; recurring flows</a:t>
            </a:r>
          </a:p>
        </p:txBody>
      </p:sp>
      <p:sp>
        <p:nvSpPr>
          <p:cNvPr id="53" name="Oval 52"/>
          <p:cNvSpPr/>
          <p:nvPr/>
        </p:nvSpPr>
        <p:spPr>
          <a:xfrm>
            <a:off x="5020056" y="3172968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138928" y="31181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Support widget with presets</a:t>
            </a:r>
          </a:p>
        </p:txBody>
      </p:sp>
      <p:sp>
        <p:nvSpPr>
          <p:cNvPr id="55" name="Oval 54"/>
          <p:cNvSpPr/>
          <p:nvPr/>
        </p:nvSpPr>
        <p:spPr>
          <a:xfrm>
            <a:off x="5020056" y="3429000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138928" y="33741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Platform fee (sliding scale)</a:t>
            </a:r>
          </a:p>
        </p:txBody>
      </p:sp>
      <p:sp>
        <p:nvSpPr>
          <p:cNvPr id="57" name="Oval 56"/>
          <p:cNvSpPr/>
          <p:nvPr/>
        </p:nvSpPr>
        <p:spPr>
          <a:xfrm>
            <a:off x="5020056" y="3685032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138928" y="36301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Access duration logic</a:t>
            </a:r>
          </a:p>
        </p:txBody>
      </p:sp>
      <p:sp>
        <p:nvSpPr>
          <p:cNvPr id="59" name="Oval 58"/>
          <p:cNvSpPr/>
          <p:nvPr/>
        </p:nvSpPr>
        <p:spPr>
          <a:xfrm>
            <a:off x="5020056" y="394106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138928" y="38862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Webhook &amp; refund handling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995159" y="3474720"/>
            <a:ext cx="91440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7095744" y="1691640"/>
            <a:ext cx="210312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095744" y="1691640"/>
            <a:ext cx="2103120" cy="822960"/>
          </a:xfrm>
          <a:prstGeom prst="rect">
            <a:avLst/>
          </a:prstGeom>
          <a:solidFill>
            <a:srgbClr val="E9D5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7205472" y="1801368"/>
            <a:ext cx="86868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WEEK 7–8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05472" y="2121408"/>
            <a:ext cx="18836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Segoe UI"/>
              </a:defRPr>
            </a:pPr>
            <a:r>
              <a:t>Spiritual AI</a:t>
            </a:r>
            <a:br/>
            <a:r>
              <a:t>Guru Bot</a:t>
            </a:r>
          </a:p>
        </p:txBody>
      </p:sp>
      <p:sp>
        <p:nvSpPr>
          <p:cNvPr id="66" name="Oval 65"/>
          <p:cNvSpPr/>
          <p:nvPr/>
        </p:nvSpPr>
        <p:spPr>
          <a:xfrm>
            <a:off x="7232904" y="266090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351775" y="26060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AI model selection &amp; setup</a:t>
            </a:r>
          </a:p>
        </p:txBody>
      </p:sp>
      <p:sp>
        <p:nvSpPr>
          <p:cNvPr id="68" name="Oval 67"/>
          <p:cNvSpPr/>
          <p:nvPr/>
        </p:nvSpPr>
        <p:spPr>
          <a:xfrm>
            <a:off x="7232904" y="291693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351775" y="28620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Faith-specific training data</a:t>
            </a:r>
          </a:p>
        </p:txBody>
      </p:sp>
      <p:sp>
        <p:nvSpPr>
          <p:cNvPr id="70" name="Oval 69"/>
          <p:cNvSpPr/>
          <p:nvPr/>
        </p:nvSpPr>
        <p:spPr>
          <a:xfrm>
            <a:off x="7232904" y="3172968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351775" y="31181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Context-aware responses</a:t>
            </a:r>
          </a:p>
        </p:txBody>
      </p:sp>
      <p:sp>
        <p:nvSpPr>
          <p:cNvPr id="72" name="Oval 71"/>
          <p:cNvSpPr/>
          <p:nvPr/>
        </p:nvSpPr>
        <p:spPr>
          <a:xfrm>
            <a:off x="7232904" y="3429000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351775" y="33741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Scripture reference engine</a:t>
            </a:r>
          </a:p>
        </p:txBody>
      </p:sp>
      <p:sp>
        <p:nvSpPr>
          <p:cNvPr id="74" name="Oval 73"/>
          <p:cNvSpPr/>
          <p:nvPr/>
        </p:nvSpPr>
        <p:spPr>
          <a:xfrm>
            <a:off x="7232904" y="3685032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351775" y="36301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Chat UI integration</a:t>
            </a:r>
          </a:p>
        </p:txBody>
      </p:sp>
      <p:sp>
        <p:nvSpPr>
          <p:cNvPr id="76" name="Oval 75"/>
          <p:cNvSpPr/>
          <p:nvPr/>
        </p:nvSpPr>
        <p:spPr>
          <a:xfrm>
            <a:off x="7232904" y="394106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351775" y="38862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Content safety guardrails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9208007" y="3474720"/>
            <a:ext cx="91440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9308592" y="1691640"/>
            <a:ext cx="210312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9308592" y="1691640"/>
            <a:ext cx="2103120" cy="822960"/>
          </a:xfrm>
          <a:prstGeom prst="rect">
            <a:avLst/>
          </a:prstGeom>
          <a:solidFill>
            <a:srgbClr val="FCE7F3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9418319" y="1801368"/>
            <a:ext cx="86868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WEEK 9–10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418319" y="2121408"/>
            <a:ext cx="18836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Segoe UI"/>
              </a:defRPr>
            </a:pPr>
            <a:r>
              <a:t>Testing, Polish</a:t>
            </a:r>
            <a:br/>
            <a:r>
              <a:t>&amp; Demo</a:t>
            </a:r>
          </a:p>
        </p:txBody>
      </p:sp>
      <p:sp>
        <p:nvSpPr>
          <p:cNvPr id="83" name="Oval 82"/>
          <p:cNvSpPr/>
          <p:nvPr/>
        </p:nvSpPr>
        <p:spPr>
          <a:xfrm>
            <a:off x="9445752" y="266090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9564624" y="26060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End-to-end testing</a:t>
            </a:r>
          </a:p>
        </p:txBody>
      </p:sp>
      <p:sp>
        <p:nvSpPr>
          <p:cNvPr id="85" name="Oval 84"/>
          <p:cNvSpPr/>
          <p:nvPr/>
        </p:nvSpPr>
        <p:spPr>
          <a:xfrm>
            <a:off x="9445752" y="291693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9564624" y="28620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Security audit &amp; hardening</a:t>
            </a:r>
          </a:p>
        </p:txBody>
      </p:sp>
      <p:sp>
        <p:nvSpPr>
          <p:cNvPr id="87" name="Oval 86"/>
          <p:cNvSpPr/>
          <p:nvPr/>
        </p:nvSpPr>
        <p:spPr>
          <a:xfrm>
            <a:off x="9445752" y="3172968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564624" y="31181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UI/UX polish to mockup</a:t>
            </a:r>
          </a:p>
        </p:txBody>
      </p:sp>
      <p:sp>
        <p:nvSpPr>
          <p:cNvPr id="89" name="Oval 88"/>
          <p:cNvSpPr/>
          <p:nvPr/>
        </p:nvSpPr>
        <p:spPr>
          <a:xfrm>
            <a:off x="9445752" y="3429000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9564624" y="33741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Production deployment</a:t>
            </a:r>
          </a:p>
        </p:txBody>
      </p:sp>
      <p:sp>
        <p:nvSpPr>
          <p:cNvPr id="91" name="Oval 90"/>
          <p:cNvSpPr/>
          <p:nvPr/>
        </p:nvSpPr>
        <p:spPr>
          <a:xfrm>
            <a:off x="9445752" y="3685032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9564624" y="36301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Documentation &amp; handover</a:t>
            </a:r>
          </a:p>
        </p:txBody>
      </p:sp>
      <p:sp>
        <p:nvSpPr>
          <p:cNvPr id="93" name="Oval 92"/>
          <p:cNvSpPr/>
          <p:nvPr/>
        </p:nvSpPr>
        <p:spPr>
          <a:xfrm>
            <a:off x="9445752" y="394106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9564624" y="38862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Stakeholder live demo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57200" y="5806440"/>
            <a:ext cx="1133856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731520" y="58521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Segoe UI"/>
              </a:defRPr>
            </a:pPr>
            <a:r>
              <a:t>KEY MILESTONES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1520" y="605332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937"/>
                </a:solidFill>
                <a:latin typeface="Segoe UI"/>
              </a:rPr>
              <a:t>Week 2:</a:t>
            </a:r>
            <a:r>
              <a:rPr sz="1000" b="0">
                <a:solidFill>
                  <a:srgbClr val="6B7280"/>
                </a:solidFill>
                <a:latin typeface="Segoe UI"/>
              </a:rPr>
              <a:t> VPS live, auth working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71800" y="605332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937"/>
                </a:solidFill>
                <a:latin typeface="Segoe UI"/>
              </a:rPr>
              <a:t>Week 4:</a:t>
            </a:r>
            <a:r>
              <a:rPr sz="1000" b="0">
                <a:solidFill>
                  <a:srgbClr val="6B7280"/>
                </a:solidFill>
                <a:latin typeface="Segoe UI"/>
              </a:rPr>
              <a:t> All 3 portals functional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12080" y="605332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937"/>
                </a:solidFill>
                <a:latin typeface="Segoe UI"/>
              </a:rPr>
              <a:t>Week 6:</a:t>
            </a:r>
            <a:r>
              <a:rPr sz="1000" b="0">
                <a:solidFill>
                  <a:srgbClr val="6B7280"/>
                </a:solidFill>
                <a:latin typeface="Segoe UI"/>
              </a:rPr>
              <a:t> Payments end-to-end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452360" y="605332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937"/>
                </a:solidFill>
                <a:latin typeface="Segoe UI"/>
              </a:rPr>
              <a:t>Week 8:</a:t>
            </a:r>
            <a:r>
              <a:rPr sz="1000" b="0">
                <a:solidFill>
                  <a:srgbClr val="6B7280"/>
                </a:solidFill>
                <a:latin typeface="Segoe UI"/>
              </a:rPr>
              <a:t> AI Guru Bot integrated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92640" y="605332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937"/>
                </a:solidFill>
                <a:latin typeface="Segoe UI"/>
              </a:rPr>
              <a:t>Week 10:</a:t>
            </a:r>
            <a:r>
              <a:rPr sz="1000" b="0">
                <a:solidFill>
                  <a:srgbClr val="6B7280"/>
                </a:solidFill>
                <a:latin typeface="Segoe UI"/>
              </a:rPr>
              <a:t> Live demo to stakeholders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  <a:latin typeface="Segoe UI"/>
              </a:defRPr>
            </a:pPr>
            <a:r>
              <a:t>D.A.K — Digital Access Key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0" y="6492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CA3AF"/>
                </a:solidFill>
                <a:latin typeface="Segoe UI"/>
              </a:defRPr>
            </a:pPr>
            <a: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C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228600"/>
            <a:ext cx="11460175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563EB"/>
                </a:solidFill>
                <a:latin typeface="Segoe UI"/>
              </a:defRPr>
            </a:pPr>
            <a:r>
              <a:t>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Segoe UI"/>
              </a:defRPr>
            </a:pPr>
            <a:r>
              <a:t>D.A.K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474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POC Development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2937"/>
                </a:solidFill>
                <a:latin typeface="Segoe UI"/>
              </a:defRPr>
            </a:pPr>
            <a:r>
              <a:t>Cost Breakdown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44168"/>
            <a:ext cx="1645920" cy="320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Segoe UI"/>
              </a:defRPr>
            </a:pPr>
            <a:r>
              <a:t>Development, infrastructure &amp; operational costs for the 8–10 week POC phase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03070"/>
            <a:ext cx="3566160" cy="2788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703070"/>
            <a:ext cx="3566160" cy="41148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77622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DEVELOPMENT COST (ONE-TIME)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05990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Wk 1-2: VPS Setup &amp; Infra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1603" y="2205990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452878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2498597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Wk 3-4: Core Platform Dev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11603" y="2498597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$2,500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745485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2791205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Wk 5-6: Payments &amp; Access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11603" y="2791205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038093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083813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Wk 7-8: Spiritual AI Guru Bot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1603" y="3083813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$2,000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330701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376421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Wk 9-10: Testing &amp;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11603" y="3376421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$1,000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623309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" y="3714749"/>
            <a:ext cx="3200400" cy="182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378790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Development Total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1972" y="378790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$8,500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0" y="1703070"/>
            <a:ext cx="3566160" cy="2788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297680" y="1703070"/>
            <a:ext cx="3566160" cy="41148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80560" y="177622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INFRASTRUCTURE (MONTHLY)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2205990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VPS Server (4 vCPU, 8GB)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2083" y="2205990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$40/mo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0" y="2452878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80560" y="2498597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Domain &amp; SSL Certificate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2083" y="2498597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$15/mo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60" y="2745485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480560" y="2791205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Email Service (SES/SendGrid)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52083" y="2791205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$20/mo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60" y="3038093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480560" y="3083813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Streaming CDN (basic tier)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52083" y="3083813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$50/mo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60" y="3330701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480560" y="3376421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AI API Costs (LLM tokens)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52083" y="3376421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$30/mo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80560" y="3623309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480560" y="3669029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Backups &amp; Monitoring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52083" y="3669029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$25/mo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80560" y="3915917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480560" y="4007357"/>
            <a:ext cx="3200400" cy="182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480560" y="4080509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Monthly Total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02452" y="4080509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$180/mo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38160" y="1703070"/>
            <a:ext cx="3566160" cy="2788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8138160" y="1703070"/>
            <a:ext cx="3566160" cy="41148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321040" y="177622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THIRD-PARTY SERVICES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205990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Stripe Processing Fee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92563" y="2205990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2.9% + $0.30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2452878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321040" y="2498597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OAuth (Google/Apple)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92563" y="2498597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Free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21040" y="2745485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321040" y="2791205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Push Notifications (Firebase)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92563" y="2791205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Free tier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3038093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321040" y="3083813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AI/LLM API (usage-based)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92563" y="3083813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~$0.01/query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21040" y="3330701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321040" y="3376421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Streaming (usage-based)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92563" y="3376421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~$0.01/min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1040" y="3623309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8321040" y="3714749"/>
            <a:ext cx="3200400" cy="182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321040" y="378790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Variable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42932" y="378790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Usage-based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" y="4697729"/>
            <a:ext cx="5303520" cy="1618487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457200" y="4697730"/>
            <a:ext cx="5303520" cy="411480"/>
          </a:xfrm>
          <a:prstGeom prst="rect">
            <a:avLst/>
          </a:prstGeom>
          <a:solidFill>
            <a:srgbClr val="CFDFFD"/>
          </a:solidFill>
          <a:ln w="63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40080" y="4770882"/>
            <a:ext cx="49377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TOTAL INVESTMENT SUMMARY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5200650"/>
            <a:ext cx="307604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One-Time Development (8-10 wks)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15030" y="5200650"/>
            <a:ext cx="22274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$8,500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0080" y="5447538"/>
            <a:ext cx="4937759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40080" y="5493258"/>
            <a:ext cx="307604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Infrastructure (3 months)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15030" y="5493258"/>
            <a:ext cx="22274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$540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0080" y="5740146"/>
            <a:ext cx="4937759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640080" y="5831586"/>
            <a:ext cx="4937759" cy="182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40080" y="590473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Segoe UI"/>
              </a:defRPr>
            </a:pPr>
            <a:r>
              <a:rPr dirty="0"/>
              <a:t>POC Total Investment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43784" y="590473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~$10,000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035040" y="4697730"/>
            <a:ext cx="5669280" cy="161848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6035040" y="4697730"/>
            <a:ext cx="566928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6263640" y="476173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ASSUMPTIONS &amp; NOTES</a:t>
            </a:r>
          </a:p>
        </p:txBody>
      </p:sp>
      <p:sp>
        <p:nvSpPr>
          <p:cNvPr id="90" name="Oval 89"/>
          <p:cNvSpPr/>
          <p:nvPr/>
        </p:nvSpPr>
        <p:spPr>
          <a:xfrm>
            <a:off x="6309360" y="5182362"/>
            <a:ext cx="45720" cy="457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446520" y="513664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Development rate: ~$50/hr (mid-market full-stack rate)</a:t>
            </a:r>
          </a:p>
        </p:txBody>
      </p:sp>
      <p:sp>
        <p:nvSpPr>
          <p:cNvPr id="92" name="Oval 91"/>
          <p:cNvSpPr/>
          <p:nvPr/>
        </p:nvSpPr>
        <p:spPr>
          <a:xfrm>
            <a:off x="6309360" y="5365242"/>
            <a:ext cx="45720" cy="457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6446520" y="531952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VPS: DigitalOcean/Hetzner tier with Docker pre-installed</a:t>
            </a:r>
          </a:p>
        </p:txBody>
      </p:sp>
      <p:sp>
        <p:nvSpPr>
          <p:cNvPr id="94" name="Oval 93"/>
          <p:cNvSpPr/>
          <p:nvPr/>
        </p:nvSpPr>
        <p:spPr>
          <a:xfrm>
            <a:off x="6309360" y="5548122"/>
            <a:ext cx="45720" cy="457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6446520" y="550240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AI Guru Bot uses LLM API (e.g. Claude/OpenAI) with faith-specific prompts</a:t>
            </a:r>
          </a:p>
        </p:txBody>
      </p:sp>
      <p:sp>
        <p:nvSpPr>
          <p:cNvPr id="96" name="Oval 95"/>
          <p:cNvSpPr/>
          <p:nvPr/>
        </p:nvSpPr>
        <p:spPr>
          <a:xfrm>
            <a:off x="6309360" y="5731002"/>
            <a:ext cx="45720" cy="457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6446520" y="568528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Excludes: Mobile apps, dedicated support, multi-region deployment</a:t>
            </a:r>
          </a:p>
        </p:txBody>
      </p:sp>
      <p:sp>
        <p:nvSpPr>
          <p:cNvPr id="98" name="Oval 97"/>
          <p:cNvSpPr/>
          <p:nvPr/>
        </p:nvSpPr>
        <p:spPr>
          <a:xfrm>
            <a:off x="6309360" y="5913882"/>
            <a:ext cx="45720" cy="457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446520" y="586816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Timeline assumes single developer, can accelerate with team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6492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  <a:latin typeface="Segoe UI"/>
              </a:defRPr>
            </a:pPr>
            <a:r>
              <a:t>D.A.K — Digital Access Key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44000" y="6492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CA3AF"/>
                </a:solidFill>
                <a:latin typeface="Segoe UI"/>
              </a:defRPr>
            </a:pPr>
            <a: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815</Words>
  <Application>Microsoft Office PowerPoint</Application>
  <PresentationFormat>Widescreen</PresentationFormat>
  <Paragraphs>156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Krishna Mohapatra</cp:lastModifiedBy>
  <cp:revision>2</cp:revision>
  <dcterms:created xsi:type="dcterms:W3CDTF">2013-01-27T09:14:16Z</dcterms:created>
  <dcterms:modified xsi:type="dcterms:W3CDTF">2026-02-13T03:54:29Z</dcterms:modified>
  <cp:category/>
</cp:coreProperties>
</file>