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EC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28600"/>
            <a:ext cx="11460175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2563EB"/>
                </a:solidFill>
                <a:latin typeface="Segoe UI"/>
              </a:defRPr>
            </a:pPr>
            <a:r>
              <a:t>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743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F2937"/>
                </a:solidFill>
                <a:latin typeface="Segoe UI"/>
              </a:defRPr>
            </a:pPr>
            <a:r>
              <a:t>D.A.K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347472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9CA3AF"/>
                </a:solidFill>
                <a:latin typeface="Segoe UI"/>
              </a:defRPr>
            </a:pPr>
            <a:r>
              <a:t>POC Development Proposal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9601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2937"/>
                </a:solidFill>
                <a:latin typeface="Segoe UI"/>
              </a:defRPr>
            </a:pPr>
            <a:r>
              <a:t>Scope of POC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344168"/>
            <a:ext cx="1645920" cy="3200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Segoe UI"/>
              </a:defRPr>
            </a:pPr>
            <a:r>
              <a:t>Multi-portal faith-community platform with Spiritual AI Guru Bot, VPS deployment &amp; Docker orchestration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486400" cy="47548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373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F2937"/>
                </a:solidFill>
                <a:latin typeface="Segoe UI"/>
              </a:defRPr>
            </a:pPr>
            <a:r>
              <a:t>Platform Architecture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011680"/>
            <a:ext cx="640080" cy="228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2194560"/>
            <a:ext cx="45720" cy="47548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77240" y="2194560"/>
            <a:ext cx="4983480" cy="47548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221991"/>
            <a:ext cx="4663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F2937"/>
                </a:solidFill>
                <a:latin typeface="Segoe UI"/>
              </a:rPr>
              <a:t>Admin Portal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432304"/>
            <a:ext cx="4663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Platform admin — approve communities, view GMV, manage users, payments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2743200"/>
            <a:ext cx="45720" cy="47548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2743200"/>
            <a:ext cx="4983480" cy="47548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2770632"/>
            <a:ext cx="4663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F2937"/>
                </a:solidFill>
                <a:latin typeface="Segoe UI"/>
              </a:rPr>
              <a:t>Institute Portal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2980944"/>
            <a:ext cx="4663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Community admin — branding, events, live streams, messaging with members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3291840"/>
            <a:ext cx="45720" cy="47548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77240" y="3291840"/>
            <a:ext cx="4983480" cy="47548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3319272"/>
            <a:ext cx="4663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F2937"/>
                </a:solidFill>
                <a:latin typeface="Segoe UI"/>
              </a:rPr>
              <a:t>User Portal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3529584"/>
            <a:ext cx="4663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End user — community overview, live stream, support widget, events, calendar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1520" y="3840480"/>
            <a:ext cx="45720" cy="47548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77240" y="3840480"/>
            <a:ext cx="4983480" cy="47548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3867912"/>
            <a:ext cx="4663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F2937"/>
                </a:solidFill>
                <a:latin typeface="Segoe UI"/>
              </a:rPr>
              <a:t>API Backend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4078224"/>
            <a:ext cx="4663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Node.js/Express + PostgreSQL — JWT auth, role-based access, 16+ endpoints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" y="4389120"/>
            <a:ext cx="45720" cy="47548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77240" y="4389120"/>
            <a:ext cx="4983480" cy="47548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4416552"/>
            <a:ext cx="4663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F2937"/>
                </a:solidFill>
                <a:latin typeface="Segoe UI"/>
              </a:rPr>
              <a:t>Spiritual AI Guru Bot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4626864"/>
            <a:ext cx="4663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AI-powered spiritual chatbot — faith-specific guidance, scripture references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1520" y="4937759"/>
            <a:ext cx="45720" cy="47548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777240" y="4937759"/>
            <a:ext cx="4983480" cy="47548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4400" y="4965192"/>
            <a:ext cx="4663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F2937"/>
                </a:solidFill>
                <a:latin typeface="Segoe UI"/>
              </a:rPr>
              <a:t>VPS &amp; Docker Deploy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5175503"/>
            <a:ext cx="4663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Production VPS, Docker orchestration, SSL/TLS, domain, monitoring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17920" y="1600200"/>
            <a:ext cx="5577840" cy="47548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92240" y="17373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F2937"/>
                </a:solidFill>
                <a:latin typeface="Segoe UI"/>
              </a:defRPr>
            </a:pPr>
            <a:r>
              <a:t>Key Features in Scope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92240" y="2011680"/>
            <a:ext cx="640080" cy="228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492240" y="2249424"/>
            <a:ext cx="164592" cy="16459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20840" y="2212848"/>
            <a:ext cx="4846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F2937"/>
                </a:solidFill>
                <a:latin typeface="Segoe UI"/>
              </a:rPr>
              <a:t>Controlled Access</a:t>
            </a:r>
            <a:r>
              <a:rPr sz="900" b="0">
                <a:solidFill>
                  <a:srgbClr val="6B7280"/>
                </a:solidFill>
                <a:latin typeface="Segoe UI"/>
              </a:rPr>
              <a:t>  —  QR/Invite-only onboarding, Chinese-wall isolation, 4 community types</a:t>
            </a:r>
          </a:p>
        </p:txBody>
      </p:sp>
      <p:sp>
        <p:nvSpPr>
          <p:cNvPr id="41" name="Oval 40"/>
          <p:cNvSpPr/>
          <p:nvPr/>
        </p:nvSpPr>
        <p:spPr>
          <a:xfrm>
            <a:off x="6492240" y="2615184"/>
            <a:ext cx="164592" cy="16459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20840" y="2578608"/>
            <a:ext cx="4846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F2937"/>
                </a:solidFill>
                <a:latin typeface="Segoe UI"/>
              </a:rPr>
              <a:t>Live Streaming</a:t>
            </a:r>
            <a:r>
              <a:rPr sz="900" b="0">
                <a:solidFill>
                  <a:srgbClr val="6B7280"/>
                </a:solidFill>
                <a:latin typeface="Segoe UI"/>
              </a:rPr>
              <a:t>  —  Embedded player, LIVE badge, viewer count, playback controls, recording gating</a:t>
            </a:r>
          </a:p>
        </p:txBody>
      </p:sp>
      <p:sp>
        <p:nvSpPr>
          <p:cNvPr id="43" name="Oval 42"/>
          <p:cNvSpPr/>
          <p:nvPr/>
        </p:nvSpPr>
        <p:spPr>
          <a:xfrm>
            <a:off x="6492240" y="2980944"/>
            <a:ext cx="164592" cy="16459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20840" y="2944368"/>
            <a:ext cx="4846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F2937"/>
                </a:solidFill>
                <a:latin typeface="Segoe UI"/>
              </a:rPr>
              <a:t>Support &amp; Payments</a:t>
            </a:r>
            <a:r>
              <a:rPr sz="900" b="0">
                <a:solidFill>
                  <a:srgbClr val="6B7280"/>
                </a:solidFill>
                <a:latin typeface="Segoe UI"/>
              </a:rPr>
              <a:t>  —  One-time/Monthly, $16/$36/$100/$250 presets, 5% platform fee</a:t>
            </a:r>
          </a:p>
        </p:txBody>
      </p:sp>
      <p:sp>
        <p:nvSpPr>
          <p:cNvPr id="45" name="Oval 44"/>
          <p:cNvSpPr/>
          <p:nvPr/>
        </p:nvSpPr>
        <p:spPr>
          <a:xfrm>
            <a:off x="6492240" y="3346703"/>
            <a:ext cx="164592" cy="16459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720840" y="3310127"/>
            <a:ext cx="4846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F2937"/>
                </a:solidFill>
                <a:latin typeface="Segoe UI"/>
              </a:rPr>
              <a:t>Events &amp; Calendar</a:t>
            </a:r>
            <a:r>
              <a:rPr sz="900" b="0">
                <a:solidFill>
                  <a:srgbClr val="6B7280"/>
                </a:solidFill>
                <a:latin typeface="Segoe UI"/>
              </a:rPr>
              <a:t>  —  Event management, upcoming events sidebar, mini calendar, ICS export</a:t>
            </a:r>
          </a:p>
        </p:txBody>
      </p:sp>
      <p:sp>
        <p:nvSpPr>
          <p:cNvPr id="47" name="Oval 46"/>
          <p:cNvSpPr/>
          <p:nvPr/>
        </p:nvSpPr>
        <p:spPr>
          <a:xfrm>
            <a:off x="6492240" y="3712463"/>
            <a:ext cx="164592" cy="16459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20840" y="3675887"/>
            <a:ext cx="4846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F2937"/>
                </a:solidFill>
                <a:latin typeface="Segoe UI"/>
              </a:rPr>
              <a:t>Spiritual AI Guru Bot</a:t>
            </a:r>
            <a:r>
              <a:rPr sz="900" b="0">
                <a:solidFill>
                  <a:srgbClr val="6B7280"/>
                </a:solidFill>
                <a:latin typeface="Segoe UI"/>
              </a:rPr>
              <a:t>  —  Faith-specific AI chatbot, scripture Q&amp;A, community-context aware</a:t>
            </a:r>
          </a:p>
        </p:txBody>
      </p:sp>
      <p:sp>
        <p:nvSpPr>
          <p:cNvPr id="49" name="Oval 48"/>
          <p:cNvSpPr/>
          <p:nvPr/>
        </p:nvSpPr>
        <p:spPr>
          <a:xfrm>
            <a:off x="6492240" y="4078223"/>
            <a:ext cx="164592" cy="16459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720840" y="4041647"/>
            <a:ext cx="4846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F2937"/>
                </a:solidFill>
                <a:latin typeface="Segoe UI"/>
              </a:rPr>
              <a:t>Private Messaging</a:t>
            </a:r>
            <a:r>
              <a:rPr sz="900" b="0">
                <a:solidFill>
                  <a:srgbClr val="6B7280"/>
                </a:solidFill>
                <a:latin typeface="Segoe UI"/>
              </a:rPr>
              <a:t>  —  Threaded User↔Admin inbox, real-time, block capability</a:t>
            </a:r>
          </a:p>
        </p:txBody>
      </p:sp>
      <p:sp>
        <p:nvSpPr>
          <p:cNvPr id="51" name="Oval 50"/>
          <p:cNvSpPr/>
          <p:nvPr/>
        </p:nvSpPr>
        <p:spPr>
          <a:xfrm>
            <a:off x="6492240" y="4443983"/>
            <a:ext cx="164592" cy="16459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720840" y="4407407"/>
            <a:ext cx="4846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F2937"/>
                </a:solidFill>
                <a:latin typeface="Segoe UI"/>
              </a:rPr>
              <a:t>Community Management</a:t>
            </a:r>
            <a:r>
              <a:rPr sz="900" b="0">
                <a:solidFill>
                  <a:srgbClr val="6B7280"/>
                </a:solidFill>
                <a:latin typeface="Segoe UI"/>
              </a:rPr>
              <a:t>  —  Onboarding, branding, member management, stream scheduling</a:t>
            </a:r>
          </a:p>
        </p:txBody>
      </p:sp>
      <p:sp>
        <p:nvSpPr>
          <p:cNvPr id="53" name="Oval 52"/>
          <p:cNvSpPr/>
          <p:nvPr/>
        </p:nvSpPr>
        <p:spPr>
          <a:xfrm>
            <a:off x="6492240" y="4809744"/>
            <a:ext cx="164592" cy="16459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720840" y="4773168"/>
            <a:ext cx="4846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F2937"/>
                </a:solidFill>
                <a:latin typeface="Segoe UI"/>
              </a:rPr>
              <a:t>Admin Dashboard</a:t>
            </a:r>
            <a:r>
              <a:rPr sz="900" b="0">
                <a:solidFill>
                  <a:srgbClr val="6B7280"/>
                </a:solidFill>
                <a:latin typeface="Segoe UI"/>
              </a:rPr>
              <a:t>  —  GMV, users, subscribers metrics, community approve/suspend</a:t>
            </a:r>
          </a:p>
        </p:txBody>
      </p:sp>
      <p:sp>
        <p:nvSpPr>
          <p:cNvPr id="55" name="Oval 54"/>
          <p:cNvSpPr/>
          <p:nvPr/>
        </p:nvSpPr>
        <p:spPr>
          <a:xfrm>
            <a:off x="6492240" y="5175504"/>
            <a:ext cx="164592" cy="16459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720840" y="5138928"/>
            <a:ext cx="4846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F2937"/>
                </a:solidFill>
                <a:latin typeface="Segoe UI"/>
              </a:rPr>
              <a:t>VPS Production Setup</a:t>
            </a:r>
            <a:r>
              <a:rPr sz="900" b="0">
                <a:solidFill>
                  <a:srgbClr val="6B7280"/>
                </a:solidFill>
                <a:latin typeface="Segoe UI"/>
              </a:rPr>
              <a:t>  —  Server provisioning, Docker deploy, SSL, domain, backups</a:t>
            </a:r>
          </a:p>
        </p:txBody>
      </p:sp>
      <p:sp>
        <p:nvSpPr>
          <p:cNvPr id="57" name="Oval 56"/>
          <p:cNvSpPr/>
          <p:nvPr/>
        </p:nvSpPr>
        <p:spPr>
          <a:xfrm>
            <a:off x="6492240" y="5541264"/>
            <a:ext cx="164592" cy="164592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00" b="1">
                <a:solidFill>
                  <a:srgbClr val="FFFFFF"/>
                </a:solidFill>
              </a:defRPr>
            </a:pPr>
            <a:r>
              <a:t>✓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720840" y="5504688"/>
            <a:ext cx="48463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1F2937"/>
                </a:solidFill>
                <a:latin typeface="Segoe UI"/>
              </a:rPr>
              <a:t>Responsive UI</a:t>
            </a:r>
            <a:r>
              <a:rPr sz="900" b="0">
                <a:solidFill>
                  <a:srgbClr val="6B7280"/>
                </a:solidFill>
                <a:latin typeface="Segoe UI"/>
              </a:rPr>
              <a:t>  —  Apple-inspired design, two-column layout, Star of David branding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31520" y="64922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CA3AF"/>
                </a:solidFill>
                <a:latin typeface="Segoe UI"/>
              </a:defRPr>
            </a:pPr>
            <a:r>
              <a:t>D.A.K — Digital Access Key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144000" y="64922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CA3AF"/>
                </a:solidFill>
                <a:latin typeface="Segoe UI"/>
              </a:defRPr>
            </a:pPr>
            <a:r>
              <a:t>Slide 1 of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EC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28600"/>
            <a:ext cx="11460175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2563EB"/>
                </a:solidFill>
                <a:latin typeface="Segoe UI"/>
              </a:defRPr>
            </a:pPr>
            <a:r>
              <a:t>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743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F2937"/>
                </a:solidFill>
                <a:latin typeface="Segoe UI"/>
              </a:defRPr>
            </a:pPr>
            <a:r>
              <a:t>D.A.K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347472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9CA3AF"/>
                </a:solidFill>
                <a:latin typeface="Segoe UI"/>
              </a:defRPr>
            </a:pPr>
            <a:r>
              <a:t>POC Development Proposal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9601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2937"/>
                </a:solidFill>
                <a:latin typeface="Segoe UI"/>
              </a:defRPr>
            </a:pPr>
            <a:r>
              <a:t>Timeline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344168"/>
            <a:ext cx="1645920" cy="3200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Segoe UI"/>
              </a:defRPr>
            </a:pPr>
            <a:r>
              <a:t>8–10 week development plan including VPS setup &amp; Spiritual AI Guru Bot — single full-stack developer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91640"/>
            <a:ext cx="2103120" cy="397763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691640"/>
            <a:ext cx="2103120" cy="822960"/>
          </a:xfrm>
          <a:prstGeom prst="rect">
            <a:avLst/>
          </a:prstGeom>
          <a:solidFill>
            <a:srgbClr val="DBEA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1801368"/>
            <a:ext cx="868680" cy="25603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WEEK 1–2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2121408"/>
            <a:ext cx="188366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F2937"/>
                </a:solidFill>
                <a:latin typeface="Segoe UI"/>
              </a:defRPr>
            </a:pPr>
            <a:r>
              <a:t>VPS Setup &amp;</a:t>
            </a:r>
            <a:br/>
            <a:r>
              <a:t>Infrastructure</a:t>
            </a:r>
          </a:p>
        </p:txBody>
      </p:sp>
      <p:sp>
        <p:nvSpPr>
          <p:cNvPr id="13" name="Oval 12"/>
          <p:cNvSpPr/>
          <p:nvPr/>
        </p:nvSpPr>
        <p:spPr>
          <a:xfrm>
            <a:off x="594360" y="2660904"/>
            <a:ext cx="54864" cy="5486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2606040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74151"/>
                </a:solidFill>
                <a:latin typeface="Segoe UI"/>
              </a:defRPr>
            </a:pPr>
            <a:r>
              <a:t>VPS provisioning &amp; config</a:t>
            </a:r>
          </a:p>
        </p:txBody>
      </p:sp>
      <p:sp>
        <p:nvSpPr>
          <p:cNvPr id="15" name="Oval 14"/>
          <p:cNvSpPr/>
          <p:nvPr/>
        </p:nvSpPr>
        <p:spPr>
          <a:xfrm>
            <a:off x="594360" y="2916936"/>
            <a:ext cx="54864" cy="5486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2862072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74151"/>
                </a:solidFill>
                <a:latin typeface="Segoe UI"/>
              </a:defRPr>
            </a:pPr>
            <a:r>
              <a:t>Docker environment setup</a:t>
            </a:r>
          </a:p>
        </p:txBody>
      </p:sp>
      <p:sp>
        <p:nvSpPr>
          <p:cNvPr id="17" name="Oval 16"/>
          <p:cNvSpPr/>
          <p:nvPr/>
        </p:nvSpPr>
        <p:spPr>
          <a:xfrm>
            <a:off x="594360" y="3172968"/>
            <a:ext cx="54864" cy="5486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3118104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74151"/>
                </a:solidFill>
                <a:latin typeface="Segoe UI"/>
              </a:defRPr>
            </a:pPr>
            <a:r>
              <a:t>PostgreSQL schema &amp; seeds</a:t>
            </a:r>
          </a:p>
        </p:txBody>
      </p:sp>
      <p:sp>
        <p:nvSpPr>
          <p:cNvPr id="19" name="Oval 18"/>
          <p:cNvSpPr/>
          <p:nvPr/>
        </p:nvSpPr>
        <p:spPr>
          <a:xfrm>
            <a:off x="594360" y="3429000"/>
            <a:ext cx="54864" cy="5486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3232" y="3374136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74151"/>
                </a:solidFill>
                <a:latin typeface="Segoe UI"/>
              </a:defRPr>
            </a:pPr>
            <a:r>
              <a:t>SSL/TLS &amp; domain setup</a:t>
            </a:r>
          </a:p>
        </p:txBody>
      </p:sp>
      <p:sp>
        <p:nvSpPr>
          <p:cNvPr id="21" name="Oval 20"/>
          <p:cNvSpPr/>
          <p:nvPr/>
        </p:nvSpPr>
        <p:spPr>
          <a:xfrm>
            <a:off x="594360" y="3685032"/>
            <a:ext cx="54864" cy="5486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3232" y="3630168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74151"/>
                </a:solidFill>
                <a:latin typeface="Segoe UI"/>
              </a:defRPr>
            </a:pPr>
            <a:r>
              <a:t>CI/CD pipeline basics</a:t>
            </a:r>
          </a:p>
        </p:txBody>
      </p:sp>
      <p:sp>
        <p:nvSpPr>
          <p:cNvPr id="23" name="Oval 22"/>
          <p:cNvSpPr/>
          <p:nvPr/>
        </p:nvSpPr>
        <p:spPr>
          <a:xfrm>
            <a:off x="594360" y="3941064"/>
            <a:ext cx="54864" cy="5486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3886200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74151"/>
                </a:solidFill>
                <a:latin typeface="Segoe UI"/>
              </a:defRPr>
            </a:pPr>
            <a:r>
              <a:t>JWT auth &amp; OAuth</a:t>
            </a:r>
          </a:p>
        </p:txBody>
      </p:sp>
      <p:sp>
        <p:nvSpPr>
          <p:cNvPr id="25" name="Oval 24"/>
          <p:cNvSpPr/>
          <p:nvPr/>
        </p:nvSpPr>
        <p:spPr>
          <a:xfrm>
            <a:off x="594360" y="4197096"/>
            <a:ext cx="54864" cy="5486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" y="4142232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74151"/>
                </a:solidFill>
                <a:latin typeface="Segoe UI"/>
              </a:defRPr>
            </a:pPr>
            <a:r>
              <a:t>Role-based access control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2569463" y="3474720"/>
            <a:ext cx="91440" cy="182880"/>
          </a:xfrm>
          <a:prstGeom prst="right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2670048" y="1691640"/>
            <a:ext cx="2103120" cy="397763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670048" y="1691640"/>
            <a:ext cx="2103120" cy="822960"/>
          </a:xfrm>
          <a:prstGeom prst="rect">
            <a:avLst/>
          </a:prstGeom>
          <a:solidFill>
            <a:srgbClr val="D1FAE5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2779776" y="1801368"/>
            <a:ext cx="868680" cy="25603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WEEK 3–4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79776" y="2121408"/>
            <a:ext cx="188366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F2937"/>
                </a:solidFill>
                <a:latin typeface="Segoe UI"/>
              </a:defRPr>
            </a:pPr>
            <a:r>
              <a:t>Core Platform</a:t>
            </a:r>
            <a:br/>
            <a:r>
              <a:t>Development</a:t>
            </a:r>
          </a:p>
        </p:txBody>
      </p:sp>
      <p:sp>
        <p:nvSpPr>
          <p:cNvPr id="32" name="Oval 31"/>
          <p:cNvSpPr/>
          <p:nvPr/>
        </p:nvSpPr>
        <p:spPr>
          <a:xfrm>
            <a:off x="2807208" y="2660904"/>
            <a:ext cx="54864" cy="5486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926080" y="2606040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74151"/>
                </a:solidFill>
                <a:latin typeface="Segoe UI"/>
              </a:defRPr>
            </a:pPr>
            <a:r>
              <a:t>3 portal UIs (Admin,</a:t>
            </a:r>
            <a:br/>
            <a:r>
              <a:t>  Institute, User)</a:t>
            </a:r>
          </a:p>
        </p:txBody>
      </p:sp>
      <p:sp>
        <p:nvSpPr>
          <p:cNvPr id="34" name="Oval 33"/>
          <p:cNvSpPr/>
          <p:nvPr/>
        </p:nvSpPr>
        <p:spPr>
          <a:xfrm>
            <a:off x="2807208" y="2916936"/>
            <a:ext cx="54864" cy="5486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926080" y="2862072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74151"/>
                </a:solidFill>
                <a:latin typeface="Segoe UI"/>
              </a:defRPr>
            </a:pPr>
            <a:r>
              <a:t>Community management</a:t>
            </a:r>
          </a:p>
        </p:txBody>
      </p:sp>
      <p:sp>
        <p:nvSpPr>
          <p:cNvPr id="36" name="Oval 35"/>
          <p:cNvSpPr/>
          <p:nvPr/>
        </p:nvSpPr>
        <p:spPr>
          <a:xfrm>
            <a:off x="2807208" y="3172968"/>
            <a:ext cx="54864" cy="5486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926080" y="3118104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74151"/>
                </a:solidFill>
                <a:latin typeface="Segoe UI"/>
              </a:defRPr>
            </a:pPr>
            <a:r>
              <a:t>Events &amp; calendar system</a:t>
            </a:r>
          </a:p>
        </p:txBody>
      </p:sp>
      <p:sp>
        <p:nvSpPr>
          <p:cNvPr id="38" name="Oval 37"/>
          <p:cNvSpPr/>
          <p:nvPr/>
        </p:nvSpPr>
        <p:spPr>
          <a:xfrm>
            <a:off x="2807208" y="3429000"/>
            <a:ext cx="54864" cy="5486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926080" y="3374136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74151"/>
                </a:solidFill>
                <a:latin typeface="Segoe UI"/>
              </a:defRPr>
            </a:pPr>
            <a:r>
              <a:t>Live streaming integration</a:t>
            </a:r>
          </a:p>
        </p:txBody>
      </p:sp>
      <p:sp>
        <p:nvSpPr>
          <p:cNvPr id="40" name="Oval 39"/>
          <p:cNvSpPr/>
          <p:nvPr/>
        </p:nvSpPr>
        <p:spPr>
          <a:xfrm>
            <a:off x="2807208" y="3685032"/>
            <a:ext cx="54864" cy="5486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926080" y="3630168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74151"/>
                </a:solidFill>
                <a:latin typeface="Segoe UI"/>
              </a:defRPr>
            </a:pPr>
            <a:r>
              <a:t>Messaging system</a:t>
            </a:r>
          </a:p>
        </p:txBody>
      </p:sp>
      <p:sp>
        <p:nvSpPr>
          <p:cNvPr id="42" name="Oval 41"/>
          <p:cNvSpPr/>
          <p:nvPr/>
        </p:nvSpPr>
        <p:spPr>
          <a:xfrm>
            <a:off x="2807208" y="3941064"/>
            <a:ext cx="54864" cy="5486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926080" y="3886200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74151"/>
                </a:solidFill>
                <a:latin typeface="Segoe UI"/>
              </a:defRPr>
            </a:pPr>
            <a:r>
              <a:t>Notifications engine</a:t>
            </a:r>
          </a:p>
        </p:txBody>
      </p:sp>
      <p:sp>
        <p:nvSpPr>
          <p:cNvPr id="44" name="Right Arrow 43"/>
          <p:cNvSpPr/>
          <p:nvPr/>
        </p:nvSpPr>
        <p:spPr>
          <a:xfrm>
            <a:off x="4782312" y="3474720"/>
            <a:ext cx="91440" cy="182880"/>
          </a:xfrm>
          <a:prstGeom prst="right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4882896" y="1691640"/>
            <a:ext cx="2103120" cy="397763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882896" y="1691640"/>
            <a:ext cx="2103120" cy="822960"/>
          </a:xfrm>
          <a:prstGeom prst="rect">
            <a:avLst/>
          </a:prstGeom>
          <a:solidFill>
            <a:srgbClr val="FEF3C7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4992624" y="1801368"/>
            <a:ext cx="868680" cy="25603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WEEK 5–6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992624" y="2121408"/>
            <a:ext cx="188366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F2937"/>
                </a:solidFill>
                <a:latin typeface="Segoe UI"/>
              </a:defRPr>
            </a:pPr>
            <a:r>
              <a:t>Payments &amp;</a:t>
            </a:r>
            <a:br/>
            <a:r>
              <a:t>Access System</a:t>
            </a:r>
          </a:p>
        </p:txBody>
      </p:sp>
      <p:sp>
        <p:nvSpPr>
          <p:cNvPr id="49" name="Oval 48"/>
          <p:cNvSpPr/>
          <p:nvPr/>
        </p:nvSpPr>
        <p:spPr>
          <a:xfrm>
            <a:off x="5020056" y="2660904"/>
            <a:ext cx="54864" cy="5486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138928" y="2606040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74151"/>
                </a:solidFill>
                <a:latin typeface="Segoe UI"/>
              </a:defRPr>
            </a:pPr>
            <a:r>
              <a:t>Stripe sandbox integration</a:t>
            </a:r>
          </a:p>
        </p:txBody>
      </p:sp>
      <p:sp>
        <p:nvSpPr>
          <p:cNvPr id="51" name="Oval 50"/>
          <p:cNvSpPr/>
          <p:nvPr/>
        </p:nvSpPr>
        <p:spPr>
          <a:xfrm>
            <a:off x="5020056" y="2916936"/>
            <a:ext cx="54864" cy="5486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138928" y="2862072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74151"/>
                </a:solidFill>
                <a:latin typeface="Segoe UI"/>
              </a:defRPr>
            </a:pPr>
            <a:r>
              <a:t>One-time &amp; recurring flows</a:t>
            </a:r>
          </a:p>
        </p:txBody>
      </p:sp>
      <p:sp>
        <p:nvSpPr>
          <p:cNvPr id="53" name="Oval 52"/>
          <p:cNvSpPr/>
          <p:nvPr/>
        </p:nvSpPr>
        <p:spPr>
          <a:xfrm>
            <a:off x="5020056" y="3172968"/>
            <a:ext cx="54864" cy="5486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138928" y="3118104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74151"/>
                </a:solidFill>
                <a:latin typeface="Segoe UI"/>
              </a:defRPr>
            </a:pPr>
            <a:r>
              <a:t>Support widget with presets</a:t>
            </a:r>
          </a:p>
        </p:txBody>
      </p:sp>
      <p:sp>
        <p:nvSpPr>
          <p:cNvPr id="55" name="Oval 54"/>
          <p:cNvSpPr/>
          <p:nvPr/>
        </p:nvSpPr>
        <p:spPr>
          <a:xfrm>
            <a:off x="5020056" y="3429000"/>
            <a:ext cx="54864" cy="5486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138928" y="3374136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74151"/>
                </a:solidFill>
                <a:latin typeface="Segoe UI"/>
              </a:defRPr>
            </a:pPr>
            <a:r>
              <a:t>Platform fee (sliding scale)</a:t>
            </a:r>
          </a:p>
        </p:txBody>
      </p:sp>
      <p:sp>
        <p:nvSpPr>
          <p:cNvPr id="57" name="Oval 56"/>
          <p:cNvSpPr/>
          <p:nvPr/>
        </p:nvSpPr>
        <p:spPr>
          <a:xfrm>
            <a:off x="5020056" y="3685032"/>
            <a:ext cx="54864" cy="5486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138928" y="3630168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74151"/>
                </a:solidFill>
                <a:latin typeface="Segoe UI"/>
              </a:defRPr>
            </a:pPr>
            <a:r>
              <a:t>Access duration logic</a:t>
            </a:r>
          </a:p>
        </p:txBody>
      </p:sp>
      <p:sp>
        <p:nvSpPr>
          <p:cNvPr id="59" name="Oval 58"/>
          <p:cNvSpPr/>
          <p:nvPr/>
        </p:nvSpPr>
        <p:spPr>
          <a:xfrm>
            <a:off x="5020056" y="3941064"/>
            <a:ext cx="54864" cy="5486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138928" y="3886200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74151"/>
                </a:solidFill>
                <a:latin typeface="Segoe UI"/>
              </a:defRPr>
            </a:pPr>
            <a:r>
              <a:t>Webhook &amp; refund handling</a:t>
            </a:r>
          </a:p>
        </p:txBody>
      </p:sp>
      <p:sp>
        <p:nvSpPr>
          <p:cNvPr id="61" name="Right Arrow 60"/>
          <p:cNvSpPr/>
          <p:nvPr/>
        </p:nvSpPr>
        <p:spPr>
          <a:xfrm>
            <a:off x="6995159" y="3474720"/>
            <a:ext cx="91440" cy="182880"/>
          </a:xfrm>
          <a:prstGeom prst="right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7095744" y="1691640"/>
            <a:ext cx="2103120" cy="397763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095744" y="1691640"/>
            <a:ext cx="2103120" cy="822960"/>
          </a:xfrm>
          <a:prstGeom prst="rect">
            <a:avLst/>
          </a:prstGeom>
          <a:solidFill>
            <a:srgbClr val="E9D5FF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7205472" y="1801368"/>
            <a:ext cx="868680" cy="25603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WEEK 7–8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05472" y="2121408"/>
            <a:ext cx="188366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F2937"/>
                </a:solidFill>
                <a:latin typeface="Segoe UI"/>
              </a:defRPr>
            </a:pPr>
            <a:r>
              <a:t>Spiritual AI</a:t>
            </a:r>
            <a:br/>
            <a:r>
              <a:t>Guru Bot</a:t>
            </a:r>
          </a:p>
        </p:txBody>
      </p:sp>
      <p:sp>
        <p:nvSpPr>
          <p:cNvPr id="66" name="Oval 65"/>
          <p:cNvSpPr/>
          <p:nvPr/>
        </p:nvSpPr>
        <p:spPr>
          <a:xfrm>
            <a:off x="7232904" y="2660904"/>
            <a:ext cx="54864" cy="5486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351775" y="2606040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74151"/>
                </a:solidFill>
                <a:latin typeface="Segoe UI"/>
              </a:defRPr>
            </a:pPr>
            <a:r>
              <a:t>AI model selection &amp; setup</a:t>
            </a:r>
          </a:p>
        </p:txBody>
      </p:sp>
      <p:sp>
        <p:nvSpPr>
          <p:cNvPr id="68" name="Oval 67"/>
          <p:cNvSpPr/>
          <p:nvPr/>
        </p:nvSpPr>
        <p:spPr>
          <a:xfrm>
            <a:off x="7232904" y="2916936"/>
            <a:ext cx="54864" cy="5486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351775" y="2862072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74151"/>
                </a:solidFill>
                <a:latin typeface="Segoe UI"/>
              </a:defRPr>
            </a:pPr>
            <a:r>
              <a:t>Faith-specific training data</a:t>
            </a:r>
          </a:p>
        </p:txBody>
      </p:sp>
      <p:sp>
        <p:nvSpPr>
          <p:cNvPr id="70" name="Oval 69"/>
          <p:cNvSpPr/>
          <p:nvPr/>
        </p:nvSpPr>
        <p:spPr>
          <a:xfrm>
            <a:off x="7232904" y="3172968"/>
            <a:ext cx="54864" cy="5486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351775" y="3118104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74151"/>
                </a:solidFill>
                <a:latin typeface="Segoe UI"/>
              </a:defRPr>
            </a:pPr>
            <a:r>
              <a:t>Context-aware responses</a:t>
            </a:r>
          </a:p>
        </p:txBody>
      </p:sp>
      <p:sp>
        <p:nvSpPr>
          <p:cNvPr id="72" name="Oval 71"/>
          <p:cNvSpPr/>
          <p:nvPr/>
        </p:nvSpPr>
        <p:spPr>
          <a:xfrm>
            <a:off x="7232904" y="3429000"/>
            <a:ext cx="54864" cy="5486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351775" y="3374136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74151"/>
                </a:solidFill>
                <a:latin typeface="Segoe UI"/>
              </a:defRPr>
            </a:pPr>
            <a:r>
              <a:t>Scripture reference engine</a:t>
            </a:r>
          </a:p>
        </p:txBody>
      </p:sp>
      <p:sp>
        <p:nvSpPr>
          <p:cNvPr id="74" name="Oval 73"/>
          <p:cNvSpPr/>
          <p:nvPr/>
        </p:nvSpPr>
        <p:spPr>
          <a:xfrm>
            <a:off x="7232904" y="3685032"/>
            <a:ext cx="54864" cy="5486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351775" y="3630168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74151"/>
                </a:solidFill>
                <a:latin typeface="Segoe UI"/>
              </a:defRPr>
            </a:pPr>
            <a:r>
              <a:t>Chat UI integration</a:t>
            </a:r>
          </a:p>
        </p:txBody>
      </p:sp>
      <p:sp>
        <p:nvSpPr>
          <p:cNvPr id="76" name="Oval 75"/>
          <p:cNvSpPr/>
          <p:nvPr/>
        </p:nvSpPr>
        <p:spPr>
          <a:xfrm>
            <a:off x="7232904" y="3941064"/>
            <a:ext cx="54864" cy="5486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351775" y="3886200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74151"/>
                </a:solidFill>
                <a:latin typeface="Segoe UI"/>
              </a:defRPr>
            </a:pPr>
            <a:r>
              <a:t>Content safety guardrails</a:t>
            </a:r>
          </a:p>
        </p:txBody>
      </p:sp>
      <p:sp>
        <p:nvSpPr>
          <p:cNvPr id="78" name="Right Arrow 77"/>
          <p:cNvSpPr/>
          <p:nvPr/>
        </p:nvSpPr>
        <p:spPr>
          <a:xfrm>
            <a:off x="9208007" y="3474720"/>
            <a:ext cx="91440" cy="182880"/>
          </a:xfrm>
          <a:prstGeom prst="rightArrow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9308592" y="1691640"/>
            <a:ext cx="2103120" cy="397763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308592" y="1691640"/>
            <a:ext cx="2103120" cy="822960"/>
          </a:xfrm>
          <a:prstGeom prst="rect">
            <a:avLst/>
          </a:prstGeom>
          <a:solidFill>
            <a:srgbClr val="FCE7F3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9418319" y="1801368"/>
            <a:ext cx="868680" cy="25603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WEEK 9–10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418319" y="2121408"/>
            <a:ext cx="188366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F2937"/>
                </a:solidFill>
                <a:latin typeface="Segoe UI"/>
              </a:defRPr>
            </a:pPr>
            <a:r>
              <a:t>Testing, Polish</a:t>
            </a:r>
            <a:br/>
            <a:r>
              <a:t>&amp; Demo</a:t>
            </a:r>
          </a:p>
        </p:txBody>
      </p:sp>
      <p:sp>
        <p:nvSpPr>
          <p:cNvPr id="83" name="Oval 82"/>
          <p:cNvSpPr/>
          <p:nvPr/>
        </p:nvSpPr>
        <p:spPr>
          <a:xfrm>
            <a:off x="9445752" y="2660904"/>
            <a:ext cx="54864" cy="5486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9564624" y="2606040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74151"/>
                </a:solidFill>
                <a:latin typeface="Segoe UI"/>
              </a:defRPr>
            </a:pPr>
            <a:r>
              <a:t>End-to-end testing</a:t>
            </a:r>
          </a:p>
        </p:txBody>
      </p:sp>
      <p:sp>
        <p:nvSpPr>
          <p:cNvPr id="85" name="Oval 84"/>
          <p:cNvSpPr/>
          <p:nvPr/>
        </p:nvSpPr>
        <p:spPr>
          <a:xfrm>
            <a:off x="9445752" y="2916936"/>
            <a:ext cx="54864" cy="5486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9564624" y="2862072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74151"/>
                </a:solidFill>
                <a:latin typeface="Segoe UI"/>
              </a:defRPr>
            </a:pPr>
            <a:r>
              <a:t>Security audit &amp; hardening</a:t>
            </a:r>
          </a:p>
        </p:txBody>
      </p:sp>
      <p:sp>
        <p:nvSpPr>
          <p:cNvPr id="87" name="Oval 86"/>
          <p:cNvSpPr/>
          <p:nvPr/>
        </p:nvSpPr>
        <p:spPr>
          <a:xfrm>
            <a:off x="9445752" y="3172968"/>
            <a:ext cx="54864" cy="5486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9564624" y="3118104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74151"/>
                </a:solidFill>
                <a:latin typeface="Segoe UI"/>
              </a:defRPr>
            </a:pPr>
            <a:r>
              <a:t>UI/UX polish to mockup</a:t>
            </a:r>
          </a:p>
        </p:txBody>
      </p:sp>
      <p:sp>
        <p:nvSpPr>
          <p:cNvPr id="89" name="Oval 88"/>
          <p:cNvSpPr/>
          <p:nvPr/>
        </p:nvSpPr>
        <p:spPr>
          <a:xfrm>
            <a:off x="9445752" y="3429000"/>
            <a:ext cx="54864" cy="5486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9564624" y="3374136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74151"/>
                </a:solidFill>
                <a:latin typeface="Segoe UI"/>
              </a:defRPr>
            </a:pPr>
            <a:r>
              <a:t>Production deployment</a:t>
            </a:r>
          </a:p>
        </p:txBody>
      </p:sp>
      <p:sp>
        <p:nvSpPr>
          <p:cNvPr id="91" name="Oval 90"/>
          <p:cNvSpPr/>
          <p:nvPr/>
        </p:nvSpPr>
        <p:spPr>
          <a:xfrm>
            <a:off x="9445752" y="3685032"/>
            <a:ext cx="54864" cy="5486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9564624" y="3630168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74151"/>
                </a:solidFill>
                <a:latin typeface="Segoe UI"/>
              </a:defRPr>
            </a:pPr>
            <a:r>
              <a:t>Documentation &amp; handover</a:t>
            </a:r>
          </a:p>
        </p:txBody>
      </p:sp>
      <p:sp>
        <p:nvSpPr>
          <p:cNvPr id="93" name="Oval 92"/>
          <p:cNvSpPr/>
          <p:nvPr/>
        </p:nvSpPr>
        <p:spPr>
          <a:xfrm>
            <a:off x="9445752" y="3941064"/>
            <a:ext cx="54864" cy="54864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9564624" y="3886200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74151"/>
                </a:solidFill>
                <a:latin typeface="Segoe UI"/>
              </a:defRPr>
            </a:pPr>
            <a:r>
              <a:t>Stakeholder live demo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457200" y="5806440"/>
            <a:ext cx="11338560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31520" y="585216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563EB"/>
                </a:solidFill>
                <a:latin typeface="Segoe UI"/>
              </a:defRPr>
            </a:pPr>
            <a:r>
              <a:t>KEY MILESTONES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31520" y="6053328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F2937"/>
                </a:solidFill>
                <a:latin typeface="Segoe UI"/>
              </a:rPr>
              <a:t>Week 2:</a:t>
            </a:r>
            <a:r>
              <a:rPr sz="1000" b="0">
                <a:solidFill>
                  <a:srgbClr val="6B7280"/>
                </a:solidFill>
                <a:latin typeface="Segoe UI"/>
              </a:rPr>
              <a:t> VPS live, auth working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71800" y="6053328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F2937"/>
                </a:solidFill>
                <a:latin typeface="Segoe UI"/>
              </a:rPr>
              <a:t>Week 4:</a:t>
            </a:r>
            <a:r>
              <a:rPr sz="1000" b="0">
                <a:solidFill>
                  <a:srgbClr val="6B7280"/>
                </a:solidFill>
                <a:latin typeface="Segoe UI"/>
              </a:rPr>
              <a:t> All 3 portals functional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212080" y="6053328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F2937"/>
                </a:solidFill>
                <a:latin typeface="Segoe UI"/>
              </a:rPr>
              <a:t>Week 6:</a:t>
            </a:r>
            <a:r>
              <a:rPr sz="1000" b="0">
                <a:solidFill>
                  <a:srgbClr val="6B7280"/>
                </a:solidFill>
                <a:latin typeface="Segoe UI"/>
              </a:rPr>
              <a:t> Payments end-to-end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452360" y="6053328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F2937"/>
                </a:solidFill>
                <a:latin typeface="Segoe UI"/>
              </a:rPr>
              <a:t>Week 8:</a:t>
            </a:r>
            <a:r>
              <a:rPr sz="1000" b="0">
                <a:solidFill>
                  <a:srgbClr val="6B7280"/>
                </a:solidFill>
                <a:latin typeface="Segoe UI"/>
              </a:rPr>
              <a:t> AI Guru Bot integrated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692640" y="6053328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F2937"/>
                </a:solidFill>
                <a:latin typeface="Segoe UI"/>
              </a:rPr>
              <a:t>Week 10:</a:t>
            </a:r>
            <a:r>
              <a:rPr sz="1000" b="0">
                <a:solidFill>
                  <a:srgbClr val="6B7280"/>
                </a:solidFill>
                <a:latin typeface="Segoe UI"/>
              </a:rPr>
              <a:t> Live demo to stakeholders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731520" y="64922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CA3AF"/>
                </a:solidFill>
                <a:latin typeface="Segoe UI"/>
              </a:defRPr>
            </a:pPr>
            <a:r>
              <a:t>D.A.K — Digital Access Key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144000" y="64922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CA3AF"/>
                </a:solidFill>
                <a:latin typeface="Segoe UI"/>
              </a:defRPr>
            </a:pPr>
            <a:r>
              <a:t>Slide 2 of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EC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28600"/>
            <a:ext cx="11460175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92608"/>
            <a:ext cx="274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2563EB"/>
                </a:solidFill>
                <a:latin typeface="Segoe UI"/>
              </a:defRPr>
            </a:pPr>
            <a:r>
              <a:t>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7432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F2937"/>
                </a:solidFill>
                <a:latin typeface="Segoe UI"/>
              </a:defRPr>
            </a:pPr>
            <a:r>
              <a:t>D.A.K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0" y="347472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0">
                <a:solidFill>
                  <a:srgbClr val="9CA3AF"/>
                </a:solidFill>
                <a:latin typeface="Segoe UI"/>
              </a:defRPr>
            </a:pPr>
            <a:r>
              <a:t>POC Development Proposal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9601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F2937"/>
                </a:solidFill>
                <a:latin typeface="Segoe UI"/>
              </a:defRPr>
            </a:pPr>
            <a:r>
              <a:t>Cost Breakdown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344168"/>
            <a:ext cx="1645920" cy="3200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B7280"/>
                </a:solidFill>
                <a:latin typeface="Segoe UI"/>
              </a:defRPr>
            </a:pPr>
            <a:r>
              <a:t>Development, infrastructure &amp; operational costs for the 8–10 week POC phase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3566160" cy="27889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600200"/>
            <a:ext cx="3566160" cy="411480"/>
          </a:xfrm>
          <a:prstGeom prst="rect">
            <a:avLst/>
          </a:prstGeom>
          <a:solidFill>
            <a:srgbClr val="DBEA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673352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563EB"/>
                </a:solidFill>
                <a:latin typeface="Segoe UI"/>
              </a:defRPr>
            </a:pPr>
            <a:r>
              <a:t>DEVELOPMENT COST (ONE-TIME)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103120"/>
            <a:ext cx="206837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74151"/>
                </a:solidFill>
                <a:latin typeface="Segoe UI"/>
              </a:defRPr>
            </a:pPr>
            <a:r>
              <a:t>Wk 1-2: VPS Setup &amp; Infra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11603" y="2103120"/>
            <a:ext cx="1497787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1F2937"/>
                </a:solidFill>
                <a:latin typeface="Segoe UI"/>
              </a:defRPr>
            </a:pPr>
            <a:r>
              <a:t>$1,500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350008"/>
            <a:ext cx="3200400" cy="45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395727"/>
            <a:ext cx="206837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74151"/>
                </a:solidFill>
                <a:latin typeface="Segoe UI"/>
              </a:defRPr>
            </a:pPr>
            <a:r>
              <a:t>Wk 3-4: Core Platform Dev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11603" y="2395727"/>
            <a:ext cx="1497787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1F2937"/>
                </a:solidFill>
                <a:latin typeface="Segoe UI"/>
              </a:defRPr>
            </a:pPr>
            <a:r>
              <a:t>$2,500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642615"/>
            <a:ext cx="3200400" cy="45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688335"/>
            <a:ext cx="206837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74151"/>
                </a:solidFill>
                <a:latin typeface="Segoe UI"/>
              </a:defRPr>
            </a:pPr>
            <a:r>
              <a:t>Wk 5-6: Payments &amp; Access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11603" y="2688335"/>
            <a:ext cx="1497787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1F2937"/>
                </a:solidFill>
                <a:latin typeface="Segoe UI"/>
              </a:defRPr>
            </a:pPr>
            <a:r>
              <a:t>$1,500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2935223"/>
            <a:ext cx="3200400" cy="45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2980943"/>
            <a:ext cx="206837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74151"/>
                </a:solidFill>
                <a:latin typeface="Segoe UI"/>
              </a:defRPr>
            </a:pPr>
            <a:r>
              <a:t>Wk 7-8: Spiritual AI Guru Bot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11603" y="2980943"/>
            <a:ext cx="1497787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1F2937"/>
                </a:solidFill>
                <a:latin typeface="Segoe UI"/>
              </a:defRPr>
            </a:pPr>
            <a:r>
              <a:t>$2,000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3227831"/>
            <a:ext cx="3200400" cy="45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3273551"/>
            <a:ext cx="206837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74151"/>
                </a:solidFill>
                <a:latin typeface="Segoe UI"/>
              </a:defRPr>
            </a:pPr>
            <a:r>
              <a:t>Wk 9-10: Testing &amp; Demo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11603" y="3273551"/>
            <a:ext cx="1497787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1F2937"/>
                </a:solidFill>
                <a:latin typeface="Segoe UI"/>
              </a:defRPr>
            </a:pPr>
            <a:r>
              <a:t>$1,000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3520439"/>
            <a:ext cx="3200400" cy="45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3611879"/>
            <a:ext cx="3200400" cy="1828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3685031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563EB"/>
                </a:solidFill>
                <a:latin typeface="Segoe UI"/>
              </a:defRPr>
            </a:pPr>
            <a:r>
              <a:t>Development Total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61972" y="3685031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2563EB"/>
                </a:solidFill>
                <a:latin typeface="Segoe UI"/>
              </a:defRPr>
            </a:pPr>
            <a:r>
              <a:t>$8,500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297680" y="1600200"/>
            <a:ext cx="3566160" cy="27889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297680" y="1600200"/>
            <a:ext cx="3566160" cy="411480"/>
          </a:xfrm>
          <a:prstGeom prst="rect">
            <a:avLst/>
          </a:prstGeom>
          <a:solidFill>
            <a:srgbClr val="DBEA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480560" y="1673352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563EB"/>
                </a:solidFill>
                <a:latin typeface="Segoe UI"/>
              </a:defRPr>
            </a:pPr>
            <a:r>
              <a:t>INFRASTRUCTURE (MONTHLY)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2103120"/>
            <a:ext cx="206837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74151"/>
                </a:solidFill>
                <a:latin typeface="Segoe UI"/>
              </a:defRPr>
            </a:pPr>
            <a:r>
              <a:t>VPS Server (4 vCPU, 8GB)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52083" y="2103120"/>
            <a:ext cx="1497787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1F2937"/>
                </a:solidFill>
                <a:latin typeface="Segoe UI"/>
              </a:defRPr>
            </a:pPr>
            <a:r>
              <a:t>$40/mo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480560" y="2350008"/>
            <a:ext cx="3200400" cy="45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80560" y="2395727"/>
            <a:ext cx="206837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74151"/>
                </a:solidFill>
                <a:latin typeface="Segoe UI"/>
              </a:defRPr>
            </a:pPr>
            <a:r>
              <a:t>Domain &amp; SSL Certificate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52083" y="2395727"/>
            <a:ext cx="1497787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1F2937"/>
                </a:solidFill>
                <a:latin typeface="Segoe UI"/>
              </a:defRPr>
            </a:pPr>
            <a:r>
              <a:t>$15/mo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80560" y="2642615"/>
            <a:ext cx="3200400" cy="45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80560" y="2688335"/>
            <a:ext cx="206837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74151"/>
                </a:solidFill>
                <a:latin typeface="Segoe UI"/>
              </a:defRPr>
            </a:pPr>
            <a:r>
              <a:t>Email Service (SES/SendGrid)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52083" y="2688335"/>
            <a:ext cx="1497787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1F2937"/>
                </a:solidFill>
                <a:latin typeface="Segoe UI"/>
              </a:defRPr>
            </a:pPr>
            <a:r>
              <a:t>$20/mo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480560" y="2935223"/>
            <a:ext cx="3200400" cy="45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480560" y="2980943"/>
            <a:ext cx="206837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74151"/>
                </a:solidFill>
                <a:latin typeface="Segoe UI"/>
              </a:defRPr>
            </a:pPr>
            <a:r>
              <a:t>Streaming CDN (basic tier)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152083" y="2980943"/>
            <a:ext cx="1497787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1F2937"/>
                </a:solidFill>
                <a:latin typeface="Segoe UI"/>
              </a:defRPr>
            </a:pPr>
            <a:r>
              <a:t>$50/mo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80560" y="3227831"/>
            <a:ext cx="3200400" cy="45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80560" y="3273551"/>
            <a:ext cx="206837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74151"/>
                </a:solidFill>
                <a:latin typeface="Segoe UI"/>
              </a:defRPr>
            </a:pPr>
            <a:r>
              <a:t>AI API Costs (LLM tokens)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52083" y="3273551"/>
            <a:ext cx="1497787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1F2937"/>
                </a:solidFill>
                <a:latin typeface="Segoe UI"/>
              </a:defRPr>
            </a:pPr>
            <a:r>
              <a:t>$30/mo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480560" y="3520439"/>
            <a:ext cx="3200400" cy="45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480560" y="3566159"/>
            <a:ext cx="206837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74151"/>
                </a:solidFill>
                <a:latin typeface="Segoe UI"/>
              </a:defRPr>
            </a:pPr>
            <a:r>
              <a:t>Backups &amp; Monitoring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152083" y="3566159"/>
            <a:ext cx="1497787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1F2937"/>
                </a:solidFill>
                <a:latin typeface="Segoe UI"/>
              </a:defRPr>
            </a:pPr>
            <a:r>
              <a:t>$25/mo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480560" y="3813047"/>
            <a:ext cx="3200400" cy="45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480560" y="3904487"/>
            <a:ext cx="3200400" cy="1828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480560" y="3977639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563EB"/>
                </a:solidFill>
                <a:latin typeface="Segoe UI"/>
              </a:defRPr>
            </a:pPr>
            <a:r>
              <a:t>Monthly Total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902452" y="3977639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2563EB"/>
                </a:solidFill>
                <a:latin typeface="Segoe UI"/>
              </a:defRPr>
            </a:pPr>
            <a:r>
              <a:t>$180/mo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138160" y="1600200"/>
            <a:ext cx="3566160" cy="27889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138160" y="1600200"/>
            <a:ext cx="3566160" cy="411480"/>
          </a:xfrm>
          <a:prstGeom prst="rect">
            <a:avLst/>
          </a:prstGeom>
          <a:solidFill>
            <a:srgbClr val="DBEA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321040" y="1673352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563EB"/>
                </a:solidFill>
                <a:latin typeface="Segoe UI"/>
              </a:defRPr>
            </a:pPr>
            <a:r>
              <a:t>THIRD-PARTY SERVICES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21040" y="2103120"/>
            <a:ext cx="206837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74151"/>
                </a:solidFill>
                <a:latin typeface="Segoe UI"/>
              </a:defRPr>
            </a:pPr>
            <a:r>
              <a:t>Stripe Processing Fee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992563" y="2103120"/>
            <a:ext cx="1497787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1F2937"/>
                </a:solidFill>
                <a:latin typeface="Segoe UI"/>
              </a:defRPr>
            </a:pPr>
            <a:r>
              <a:t>2.9% + $0.30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321040" y="2350008"/>
            <a:ext cx="3200400" cy="45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321040" y="2395727"/>
            <a:ext cx="206837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74151"/>
                </a:solidFill>
                <a:latin typeface="Segoe UI"/>
              </a:defRPr>
            </a:pPr>
            <a:r>
              <a:t>OAuth (Google/Apple)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992563" y="2395727"/>
            <a:ext cx="1497787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1F2937"/>
                </a:solidFill>
                <a:latin typeface="Segoe UI"/>
              </a:defRPr>
            </a:pPr>
            <a:r>
              <a:t>Free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321040" y="2642615"/>
            <a:ext cx="3200400" cy="45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321040" y="2688335"/>
            <a:ext cx="206837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74151"/>
                </a:solidFill>
                <a:latin typeface="Segoe UI"/>
              </a:defRPr>
            </a:pPr>
            <a:r>
              <a:t>Push Notifications (Firebase)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992563" y="2688335"/>
            <a:ext cx="1497787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1F2937"/>
                </a:solidFill>
                <a:latin typeface="Segoe UI"/>
              </a:defRPr>
            </a:pPr>
            <a:r>
              <a:t>Free tier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321040" y="2935223"/>
            <a:ext cx="3200400" cy="45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321040" y="2980943"/>
            <a:ext cx="206837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74151"/>
                </a:solidFill>
                <a:latin typeface="Segoe UI"/>
              </a:defRPr>
            </a:pPr>
            <a:r>
              <a:t>AI/LLM API (usage-based)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992563" y="2980943"/>
            <a:ext cx="1497787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1F2937"/>
                </a:solidFill>
                <a:latin typeface="Segoe UI"/>
              </a:defRPr>
            </a:pPr>
            <a:r>
              <a:t>~$0.01/query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321040" y="3227831"/>
            <a:ext cx="3200400" cy="45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321040" y="3273551"/>
            <a:ext cx="2068372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74151"/>
                </a:solidFill>
                <a:latin typeface="Segoe UI"/>
              </a:defRPr>
            </a:pPr>
            <a:r>
              <a:t>Streaming (usage-based)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992563" y="3273551"/>
            <a:ext cx="1497787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1F2937"/>
                </a:solidFill>
                <a:latin typeface="Segoe UI"/>
              </a:defRPr>
            </a:pPr>
            <a:r>
              <a:t>~$0.01/min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321040" y="3520439"/>
            <a:ext cx="3200400" cy="45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8321040" y="3611879"/>
            <a:ext cx="3200400" cy="1828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321040" y="3685031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563EB"/>
                </a:solidFill>
                <a:latin typeface="Segoe UI"/>
              </a:defRPr>
            </a:pPr>
            <a:r>
              <a:t>Variable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742932" y="3685031"/>
            <a:ext cx="1783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2563EB"/>
                </a:solidFill>
                <a:latin typeface="Segoe UI"/>
              </a:defRPr>
            </a:pPr>
            <a:r>
              <a:t>Usage-based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457200" y="4572000"/>
            <a:ext cx="5303520" cy="1417320"/>
          </a:xfrm>
          <a:prstGeom prst="roundRect">
            <a:avLst/>
          </a:prstGeom>
          <a:solidFill>
            <a:srgbClr val="EFF6FF"/>
          </a:solidFill>
          <a:ln w="952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457200" y="4572000"/>
            <a:ext cx="5303520" cy="411480"/>
          </a:xfrm>
          <a:prstGeom prst="rect">
            <a:avLst/>
          </a:prstGeom>
          <a:solidFill>
            <a:srgbClr val="CFDFFD"/>
          </a:solidFill>
          <a:ln w="63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40080" y="4645152"/>
            <a:ext cx="493775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563EB"/>
                </a:solidFill>
                <a:latin typeface="Segoe UI"/>
              </a:defRPr>
            </a:pPr>
            <a:r>
              <a:t>TOTAL INVESTMENT SUMMARY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40080" y="5074920"/>
            <a:ext cx="3076041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74151"/>
                </a:solidFill>
                <a:latin typeface="Segoe UI"/>
              </a:defRPr>
            </a:pPr>
            <a:r>
              <a:t>One-Time Development (8-10 wks)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215030" y="5074920"/>
            <a:ext cx="222747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1F2937"/>
                </a:solidFill>
                <a:latin typeface="Segoe UI"/>
              </a:defRPr>
            </a:pPr>
            <a:r>
              <a:t>$8,500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40080" y="5321808"/>
            <a:ext cx="4937759" cy="45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40080" y="5367528"/>
            <a:ext cx="3076041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74151"/>
                </a:solidFill>
                <a:latin typeface="Segoe UI"/>
              </a:defRPr>
            </a:pPr>
            <a:r>
              <a:t>Infrastructure (3 months)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215030" y="5367528"/>
            <a:ext cx="222747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100" b="1">
                <a:solidFill>
                  <a:srgbClr val="1F2937"/>
                </a:solidFill>
                <a:latin typeface="Segoe UI"/>
              </a:defRPr>
            </a:pPr>
            <a:r>
              <a:t>$540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40080" y="5614416"/>
            <a:ext cx="4937759" cy="45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640080" y="5705856"/>
            <a:ext cx="4937759" cy="1828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40080" y="5779008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563EB"/>
                </a:solidFill>
                <a:latin typeface="Segoe UI"/>
              </a:defRPr>
            </a:pPr>
            <a:r>
              <a:t>POC Total Investment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843784" y="5779008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600" b="1">
                <a:solidFill>
                  <a:srgbClr val="2563EB"/>
                </a:solidFill>
                <a:latin typeface="Segoe UI"/>
              </a:defRPr>
            </a:pPr>
            <a:r>
              <a:t>~$10,000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6035040" y="4572000"/>
            <a:ext cx="56692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6035040" y="4572000"/>
            <a:ext cx="5669280" cy="365760"/>
          </a:xfrm>
          <a:prstGeom prst="rect">
            <a:avLst/>
          </a:prstGeom>
          <a:solidFill>
            <a:srgbClr val="DBEAFE"/>
          </a:solidFill>
          <a:ln w="63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263640" y="4636008"/>
            <a:ext cx="4572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563EB"/>
                </a:solidFill>
                <a:latin typeface="Segoe UI"/>
              </a:defRPr>
            </a:pPr>
            <a:r>
              <a:t>ASSUMPTIONS &amp; NOTES</a:t>
            </a:r>
          </a:p>
        </p:txBody>
      </p:sp>
      <p:sp>
        <p:nvSpPr>
          <p:cNvPr id="90" name="Oval 89"/>
          <p:cNvSpPr/>
          <p:nvPr/>
        </p:nvSpPr>
        <p:spPr>
          <a:xfrm>
            <a:off x="6309360" y="5056632"/>
            <a:ext cx="45720" cy="4572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446520" y="5010912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Development rate: ~$50/hr (mid-market full-stack rate)</a:t>
            </a:r>
          </a:p>
        </p:txBody>
      </p:sp>
      <p:sp>
        <p:nvSpPr>
          <p:cNvPr id="92" name="Oval 91"/>
          <p:cNvSpPr/>
          <p:nvPr/>
        </p:nvSpPr>
        <p:spPr>
          <a:xfrm>
            <a:off x="6309360" y="5239512"/>
            <a:ext cx="45720" cy="4572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446520" y="5193792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VPS: DigitalOcean/Hetzner tier with Docker pre-installed</a:t>
            </a:r>
          </a:p>
        </p:txBody>
      </p:sp>
      <p:sp>
        <p:nvSpPr>
          <p:cNvPr id="94" name="Oval 93"/>
          <p:cNvSpPr/>
          <p:nvPr/>
        </p:nvSpPr>
        <p:spPr>
          <a:xfrm>
            <a:off x="6309360" y="5422392"/>
            <a:ext cx="45720" cy="4572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446520" y="5376672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AI Guru Bot uses LLM API (e.g. Claude/OpenAI) with faith-specific prompts</a:t>
            </a:r>
          </a:p>
        </p:txBody>
      </p:sp>
      <p:sp>
        <p:nvSpPr>
          <p:cNvPr id="96" name="Oval 95"/>
          <p:cNvSpPr/>
          <p:nvPr/>
        </p:nvSpPr>
        <p:spPr>
          <a:xfrm>
            <a:off x="6309360" y="5605272"/>
            <a:ext cx="45720" cy="4572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446520" y="5559552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Excludes: Mobile apps, dedicated support, multi-region deployment</a:t>
            </a:r>
          </a:p>
        </p:txBody>
      </p:sp>
      <p:sp>
        <p:nvSpPr>
          <p:cNvPr id="98" name="Oval 97"/>
          <p:cNvSpPr/>
          <p:nvPr/>
        </p:nvSpPr>
        <p:spPr>
          <a:xfrm>
            <a:off x="6309360" y="5788152"/>
            <a:ext cx="45720" cy="4572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446520" y="5742432"/>
            <a:ext cx="5029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B7280"/>
                </a:solidFill>
                <a:latin typeface="Segoe UI"/>
              </a:defRPr>
            </a:pPr>
            <a:r>
              <a:t>Timeline assumes single developer, can accelerate with team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31520" y="649224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CA3AF"/>
                </a:solidFill>
                <a:latin typeface="Segoe UI"/>
              </a:defRPr>
            </a:pPr>
            <a:r>
              <a:t>D.A.K — Digital Access Key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144000" y="649224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9CA3AF"/>
                </a:solidFill>
                <a:latin typeface="Segoe UI"/>
              </a:defRPr>
            </a:pPr>
            <a:r>
              <a:t>Slide 3 of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