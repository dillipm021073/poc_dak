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78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200999-A28B-4417-ACCF-DD8E6C06F459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29E13E-9BC9-4C15-A308-78BD5A5D6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962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29E13E-9BC9-4C15-A308-78BD5A5D6C1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4644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019541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7351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59121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671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5100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919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4495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6235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0406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502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983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2968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C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228600"/>
            <a:ext cx="11460175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563EB"/>
                </a:solidFill>
                <a:latin typeface="Segoe UI"/>
              </a:defRPr>
            </a:pPr>
            <a:r>
              <a:t>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4410" y="274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Segoe UI"/>
              </a:defRPr>
            </a:pPr>
            <a:r>
              <a:rPr dirty="0"/>
              <a:t>D.A.K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4747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Segoe UI"/>
              </a:defRPr>
            </a:pPr>
            <a:r>
              <a:t>POC Development 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60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2937"/>
                </a:solidFill>
                <a:latin typeface="Segoe UI"/>
              </a:defRPr>
            </a:pPr>
            <a:r>
              <a:rPr dirty="0"/>
              <a:t>Scope of POC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44167"/>
            <a:ext cx="2137410" cy="4571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5585" y="1485900"/>
            <a:ext cx="1133855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Segoe UI"/>
              </a:defRPr>
            </a:pPr>
            <a:r>
              <a:rPr dirty="0"/>
              <a:t>Multi-portal faith-community platform with Spiritual AI Guru Bot, VPS deployment &amp; Docker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585" y="1920240"/>
            <a:ext cx="5486400" cy="4754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905" y="2057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Segoe UI"/>
              </a:defRPr>
            </a:pPr>
            <a:r>
              <a:t>Platform Architecture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905" y="2331720"/>
            <a:ext cx="64008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09905" y="2514600"/>
            <a:ext cx="457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55625" y="2514600"/>
            <a:ext cx="4983480" cy="47548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785" y="2542031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2937"/>
                </a:solidFill>
                <a:latin typeface="Segoe UI"/>
              </a:rPr>
              <a:t>Admin Portal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785" y="2752344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Platform admin — approve communities, view GMV, manage users, payments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5" y="3063240"/>
            <a:ext cx="457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55625" y="3063240"/>
            <a:ext cx="4983480" cy="47548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785" y="3090672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2937"/>
                </a:solidFill>
                <a:latin typeface="Segoe UI"/>
              </a:rPr>
              <a:t>Institute Portal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5" y="3300984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Community admin — branding, events, live streams, messaging with members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905" y="3611880"/>
            <a:ext cx="457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55625" y="3611880"/>
            <a:ext cx="4983480" cy="47548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2785" y="3639312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2937"/>
                </a:solidFill>
                <a:latin typeface="Segoe UI"/>
              </a:rPr>
              <a:t>User Portal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5" y="3849624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End user — community overview, live stream, support widget, events, calendar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905" y="4160520"/>
            <a:ext cx="457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55625" y="4160520"/>
            <a:ext cx="4983480" cy="47548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2785" y="4187952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2937"/>
                </a:solidFill>
                <a:latin typeface="Segoe UI"/>
              </a:rPr>
              <a:t>API Backend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785" y="4398264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Node.js/Express + PostgreSQL — JWT auth, role-based access, 16+ endpoints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905" y="4720589"/>
            <a:ext cx="457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55625" y="4720589"/>
            <a:ext cx="4983480" cy="47548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92785" y="4748022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2937"/>
                </a:solidFill>
                <a:latin typeface="Segoe UI"/>
              </a:rPr>
              <a:t>VPS &amp; Docker Deploy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785" y="4958333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Production VPS, Docker orchestration, SSL/TLS, domain, monitoring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96305" y="1920240"/>
            <a:ext cx="5577840" cy="4754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0625" y="2057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Segoe UI"/>
              </a:defRPr>
            </a:pPr>
            <a:r>
              <a:t>Key Features in Scope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70625" y="2331720"/>
            <a:ext cx="64008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370625" y="256946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99225" y="2532888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Controlled Access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QR/Invite-only onboarding, Chinese-wall isolation, 4 community types</a:t>
            </a:r>
          </a:p>
        </p:txBody>
      </p:sp>
      <p:sp>
        <p:nvSpPr>
          <p:cNvPr id="43" name="Oval 42"/>
          <p:cNvSpPr/>
          <p:nvPr/>
        </p:nvSpPr>
        <p:spPr>
          <a:xfrm>
            <a:off x="6370625" y="295808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9225" y="2921508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Support &amp; Payments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One-time/Monthly, $16/$36/$100/$250 presets, 5% platform fee</a:t>
            </a:r>
          </a:p>
        </p:txBody>
      </p:sp>
      <p:sp>
        <p:nvSpPr>
          <p:cNvPr id="45" name="Oval 44"/>
          <p:cNvSpPr/>
          <p:nvPr/>
        </p:nvSpPr>
        <p:spPr>
          <a:xfrm>
            <a:off x="6370625" y="3323843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99225" y="3287267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Events &amp; Calendar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Event management, upcoming events sidebar, mini calendar, ICS export</a:t>
            </a:r>
          </a:p>
        </p:txBody>
      </p:sp>
      <p:sp>
        <p:nvSpPr>
          <p:cNvPr id="47" name="Oval 46"/>
          <p:cNvSpPr/>
          <p:nvPr/>
        </p:nvSpPr>
        <p:spPr>
          <a:xfrm>
            <a:off x="6370625" y="3689603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99225" y="3653027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Spiritual AI Guru Bot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Faith-specific AI chatbot, scripture Q&amp;A, community-context aware</a:t>
            </a:r>
          </a:p>
        </p:txBody>
      </p:sp>
      <p:sp>
        <p:nvSpPr>
          <p:cNvPr id="49" name="Oval 48"/>
          <p:cNvSpPr/>
          <p:nvPr/>
        </p:nvSpPr>
        <p:spPr>
          <a:xfrm>
            <a:off x="6370625" y="4055363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99225" y="4018787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Private Messaging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Threaded User↔Admin inbox, real-time, block capability</a:t>
            </a:r>
          </a:p>
        </p:txBody>
      </p:sp>
      <p:sp>
        <p:nvSpPr>
          <p:cNvPr id="51" name="Oval 50"/>
          <p:cNvSpPr/>
          <p:nvPr/>
        </p:nvSpPr>
        <p:spPr>
          <a:xfrm>
            <a:off x="6370625" y="4421123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99225" y="4384547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Community Management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Onboarding, branding, member management, stream scheduling</a:t>
            </a:r>
          </a:p>
        </p:txBody>
      </p:sp>
      <p:sp>
        <p:nvSpPr>
          <p:cNvPr id="53" name="Oval 52"/>
          <p:cNvSpPr/>
          <p:nvPr/>
        </p:nvSpPr>
        <p:spPr>
          <a:xfrm>
            <a:off x="6370625" y="478688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99225" y="4750308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Admin Dashboard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GMV, users, subscribers metrics, community approve/suspend</a:t>
            </a:r>
          </a:p>
        </p:txBody>
      </p:sp>
      <p:sp>
        <p:nvSpPr>
          <p:cNvPr id="55" name="Oval 54"/>
          <p:cNvSpPr/>
          <p:nvPr/>
        </p:nvSpPr>
        <p:spPr>
          <a:xfrm>
            <a:off x="6370625" y="515264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99225" y="5116068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VPS Production Setup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Server provisioning, Docker deploy, SSL, domain, backups</a:t>
            </a:r>
          </a:p>
        </p:txBody>
      </p:sp>
      <p:sp>
        <p:nvSpPr>
          <p:cNvPr id="57" name="Oval 56"/>
          <p:cNvSpPr/>
          <p:nvPr/>
        </p:nvSpPr>
        <p:spPr>
          <a:xfrm>
            <a:off x="6370625" y="551840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99225" y="5481828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Responsive UI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Apple-inspired design, two-column layout, Star of David branding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905" y="6812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  <a:latin typeface="Segoe UI"/>
              </a:defRPr>
            </a:pPr>
            <a:r>
              <a:t>D.A.K — Digital Access Key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22385" y="6812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CA3AF"/>
                </a:solidFill>
                <a:latin typeface="Segoe UI"/>
              </a:defRPr>
            </a:pPr>
            <a: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C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228600"/>
            <a:ext cx="11460175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563EB"/>
                </a:solidFill>
                <a:latin typeface="Segoe UI"/>
              </a:defRPr>
            </a:pPr>
            <a:r>
              <a:t>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1268" y="274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Segoe UI"/>
              </a:defRPr>
            </a:pPr>
            <a:r>
              <a:rPr dirty="0"/>
              <a:t>D.A.K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4747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Segoe UI"/>
              </a:defRPr>
            </a:pPr>
            <a:r>
              <a:t>POC Development 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60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2937"/>
                </a:solidFill>
                <a:latin typeface="Segoe UI"/>
              </a:defRPr>
            </a:pPr>
            <a:r>
              <a:t>Timeline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44168"/>
            <a:ext cx="1645920" cy="320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Segoe UI"/>
              </a:defRPr>
            </a:pPr>
            <a:r>
              <a:t>8–10 week development plan including VPS setup &amp; Spiritual AI Guru Bot — single full-stack developer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37360"/>
            <a:ext cx="210312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2103120" cy="8229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66928" y="1847088"/>
            <a:ext cx="868680" cy="25603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WEEK 1–2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098548"/>
            <a:ext cx="188366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F2937"/>
                </a:solidFill>
                <a:latin typeface="Segoe UI"/>
              </a:defRPr>
            </a:pPr>
            <a:r>
              <a:t>VPS Setup &amp;</a:t>
            </a:r>
            <a:br/>
            <a:r>
              <a:t>Infrastructure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270662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265176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VPS provisioning &amp; config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2962656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3232" y="290779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Docker environment setup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" y="3218688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316382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PostgreSQL schema &amp; seeds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" y="3474720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3232" y="341985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SSL/TLS &amp; domain setup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3730752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367588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CI/CD pipeline basics</a:t>
            </a:r>
          </a:p>
        </p:txBody>
      </p:sp>
      <p:sp>
        <p:nvSpPr>
          <p:cNvPr id="23" name="Oval 22"/>
          <p:cNvSpPr/>
          <p:nvPr/>
        </p:nvSpPr>
        <p:spPr>
          <a:xfrm>
            <a:off x="594360" y="398678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3232" y="393192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JWT auth &amp; OAuth</a:t>
            </a:r>
          </a:p>
        </p:txBody>
      </p:sp>
      <p:sp>
        <p:nvSpPr>
          <p:cNvPr id="25" name="Oval 24"/>
          <p:cNvSpPr/>
          <p:nvPr/>
        </p:nvSpPr>
        <p:spPr>
          <a:xfrm>
            <a:off x="594360" y="4242816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3232" y="418795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Role-based access control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569463" y="3520440"/>
            <a:ext cx="91440" cy="1828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670048" y="1737360"/>
            <a:ext cx="210312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670048" y="1737360"/>
            <a:ext cx="2103120" cy="822960"/>
          </a:xfrm>
          <a:prstGeom prst="rect">
            <a:avLst/>
          </a:prstGeom>
          <a:solidFill>
            <a:srgbClr val="D1FAE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2779776" y="1847088"/>
            <a:ext cx="868680" cy="25603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WEEK 3–</a:t>
            </a:r>
            <a:r>
              <a:rPr lang="en-US" dirty="0"/>
              <a:t>5</a:t>
            </a:r>
            <a:endParaRPr dirty="0"/>
          </a:p>
        </p:txBody>
      </p:sp>
      <p:sp>
        <p:nvSpPr>
          <p:cNvPr id="31" name="TextBox 30"/>
          <p:cNvSpPr txBox="1"/>
          <p:nvPr/>
        </p:nvSpPr>
        <p:spPr>
          <a:xfrm>
            <a:off x="2779776" y="2098548"/>
            <a:ext cx="188366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F2937"/>
                </a:solidFill>
                <a:latin typeface="Segoe UI"/>
              </a:defRPr>
            </a:pPr>
            <a:r>
              <a:t>Core Platform</a:t>
            </a:r>
            <a:br/>
            <a:r>
              <a:t>Development</a:t>
            </a:r>
          </a:p>
        </p:txBody>
      </p:sp>
      <p:sp>
        <p:nvSpPr>
          <p:cNvPr id="32" name="Oval 31"/>
          <p:cNvSpPr/>
          <p:nvPr/>
        </p:nvSpPr>
        <p:spPr>
          <a:xfrm>
            <a:off x="2807208" y="270662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926080" y="265176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3 portal UIs (Admin,</a:t>
            </a:r>
            <a:br/>
            <a:r>
              <a:t>  Institute, User)</a:t>
            </a:r>
          </a:p>
        </p:txBody>
      </p:sp>
      <p:sp>
        <p:nvSpPr>
          <p:cNvPr id="34" name="Oval 33"/>
          <p:cNvSpPr/>
          <p:nvPr/>
        </p:nvSpPr>
        <p:spPr>
          <a:xfrm>
            <a:off x="2807208" y="2962656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926080" y="290779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Community management</a:t>
            </a:r>
          </a:p>
        </p:txBody>
      </p:sp>
      <p:sp>
        <p:nvSpPr>
          <p:cNvPr id="36" name="Oval 35"/>
          <p:cNvSpPr/>
          <p:nvPr/>
        </p:nvSpPr>
        <p:spPr>
          <a:xfrm>
            <a:off x="2807208" y="3218688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926080" y="316382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Events &amp; calendar system</a:t>
            </a:r>
          </a:p>
        </p:txBody>
      </p:sp>
      <p:sp>
        <p:nvSpPr>
          <p:cNvPr id="38" name="Oval 37"/>
          <p:cNvSpPr/>
          <p:nvPr/>
        </p:nvSpPr>
        <p:spPr>
          <a:xfrm>
            <a:off x="2807208" y="3474720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926080" y="341985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Live streaming integration</a:t>
            </a:r>
          </a:p>
        </p:txBody>
      </p:sp>
      <p:sp>
        <p:nvSpPr>
          <p:cNvPr id="40" name="Oval 39"/>
          <p:cNvSpPr/>
          <p:nvPr/>
        </p:nvSpPr>
        <p:spPr>
          <a:xfrm>
            <a:off x="2807208" y="3730752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926080" y="367588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Messaging system</a:t>
            </a:r>
          </a:p>
        </p:txBody>
      </p:sp>
      <p:sp>
        <p:nvSpPr>
          <p:cNvPr id="42" name="Oval 41"/>
          <p:cNvSpPr/>
          <p:nvPr/>
        </p:nvSpPr>
        <p:spPr>
          <a:xfrm>
            <a:off x="2807208" y="398678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926080" y="393192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Notifications engine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6537960" y="3525012"/>
            <a:ext cx="91440" cy="1828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6638544" y="1741932"/>
            <a:ext cx="210312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638544" y="1741932"/>
            <a:ext cx="2103120" cy="822960"/>
          </a:xfrm>
          <a:prstGeom prst="rect">
            <a:avLst/>
          </a:prstGeom>
          <a:solidFill>
            <a:srgbClr val="FEF3C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748272" y="1851660"/>
            <a:ext cx="868680" cy="25603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WEEK </a:t>
            </a:r>
            <a:r>
              <a:rPr lang="en-US" dirty="0"/>
              <a:t>6</a:t>
            </a:r>
            <a:r>
              <a:rPr dirty="0"/>
              <a:t>–</a:t>
            </a:r>
            <a:r>
              <a:rPr lang="en-US" dirty="0"/>
              <a:t>8</a:t>
            </a:r>
            <a:endParaRPr dirty="0"/>
          </a:p>
        </p:txBody>
      </p:sp>
      <p:sp>
        <p:nvSpPr>
          <p:cNvPr id="48" name="TextBox 47"/>
          <p:cNvSpPr txBox="1"/>
          <p:nvPr/>
        </p:nvSpPr>
        <p:spPr>
          <a:xfrm>
            <a:off x="6748272" y="2103120"/>
            <a:ext cx="188366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F2937"/>
                </a:solidFill>
                <a:latin typeface="Segoe UI"/>
              </a:defRPr>
            </a:pPr>
            <a:r>
              <a:t>Payments &amp;</a:t>
            </a:r>
            <a:br/>
            <a:r>
              <a:t>Access System</a:t>
            </a:r>
          </a:p>
        </p:txBody>
      </p:sp>
      <p:sp>
        <p:nvSpPr>
          <p:cNvPr id="49" name="Oval 48"/>
          <p:cNvSpPr/>
          <p:nvPr/>
        </p:nvSpPr>
        <p:spPr>
          <a:xfrm>
            <a:off x="6775704" y="2711196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894576" y="265633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Stripe sandbox integration</a:t>
            </a:r>
          </a:p>
        </p:txBody>
      </p:sp>
      <p:sp>
        <p:nvSpPr>
          <p:cNvPr id="51" name="Oval 50"/>
          <p:cNvSpPr/>
          <p:nvPr/>
        </p:nvSpPr>
        <p:spPr>
          <a:xfrm>
            <a:off x="6775704" y="2967228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894576" y="291236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One-time &amp; recurring flows</a:t>
            </a:r>
          </a:p>
        </p:txBody>
      </p:sp>
      <p:sp>
        <p:nvSpPr>
          <p:cNvPr id="53" name="Oval 52"/>
          <p:cNvSpPr/>
          <p:nvPr/>
        </p:nvSpPr>
        <p:spPr>
          <a:xfrm>
            <a:off x="6775704" y="3223260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94576" y="316839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Support widget with presets</a:t>
            </a:r>
          </a:p>
        </p:txBody>
      </p:sp>
      <p:sp>
        <p:nvSpPr>
          <p:cNvPr id="55" name="Oval 54"/>
          <p:cNvSpPr/>
          <p:nvPr/>
        </p:nvSpPr>
        <p:spPr>
          <a:xfrm>
            <a:off x="6775704" y="3479292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894576" y="342442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Platform fee (sliding scale)</a:t>
            </a:r>
          </a:p>
        </p:txBody>
      </p:sp>
      <p:sp>
        <p:nvSpPr>
          <p:cNvPr id="57" name="Oval 56"/>
          <p:cNvSpPr/>
          <p:nvPr/>
        </p:nvSpPr>
        <p:spPr>
          <a:xfrm>
            <a:off x="6775704" y="373532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894576" y="368046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Access duration logic</a:t>
            </a:r>
          </a:p>
        </p:txBody>
      </p:sp>
      <p:sp>
        <p:nvSpPr>
          <p:cNvPr id="59" name="Oval 58"/>
          <p:cNvSpPr/>
          <p:nvPr/>
        </p:nvSpPr>
        <p:spPr>
          <a:xfrm>
            <a:off x="6775704" y="3991356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894576" y="3936492"/>
            <a:ext cx="17373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rPr dirty="0"/>
              <a:t>Webhook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8750807" y="3525012"/>
            <a:ext cx="91440" cy="1828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862822" y="1737360"/>
            <a:ext cx="210312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8862822" y="1737360"/>
            <a:ext cx="2103120" cy="822960"/>
          </a:xfrm>
          <a:prstGeom prst="rect">
            <a:avLst/>
          </a:prstGeom>
          <a:solidFill>
            <a:srgbClr val="FCE7F3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8972549" y="1847088"/>
            <a:ext cx="868680" cy="25603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WEEK 9–10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72549" y="2098548"/>
            <a:ext cx="188366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F2937"/>
                </a:solidFill>
                <a:latin typeface="Segoe UI"/>
              </a:defRPr>
            </a:pPr>
            <a:r>
              <a:t>Testing, Polish</a:t>
            </a:r>
            <a:br/>
            <a:r>
              <a:t>&amp; Demo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18854" y="265176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End-to-end testing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18854" y="290779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Security audit &amp; hardening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118854" y="316382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UI/UX polish to mockup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18854" y="341985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Production deployment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18854" y="367588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Documentation &amp; handover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118854" y="393192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Stakeholder live demo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57200" y="5806440"/>
            <a:ext cx="1133856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731520" y="58521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Segoe UI"/>
              </a:defRPr>
            </a:pPr>
            <a:r>
              <a:t>KEY MILESTONES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1520" y="605332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2937"/>
                </a:solidFill>
                <a:latin typeface="Segoe UI"/>
              </a:rPr>
              <a:t>Week 2:</a:t>
            </a:r>
            <a:r>
              <a:rPr sz="1000" b="0">
                <a:solidFill>
                  <a:srgbClr val="6B7280"/>
                </a:solidFill>
                <a:latin typeface="Segoe UI"/>
              </a:rPr>
              <a:t> VPS live, auth working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71800" y="6053328"/>
            <a:ext cx="21031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dirty="0">
                <a:solidFill>
                  <a:srgbClr val="1F2937"/>
                </a:solidFill>
                <a:latin typeface="Segoe UI"/>
              </a:rPr>
              <a:t>Week </a:t>
            </a:r>
            <a:r>
              <a:rPr lang="en-US" sz="1000" b="1" dirty="0">
                <a:solidFill>
                  <a:srgbClr val="1F2937"/>
                </a:solidFill>
                <a:latin typeface="Segoe UI"/>
              </a:rPr>
              <a:t>5</a:t>
            </a:r>
            <a:r>
              <a:rPr sz="1000" b="1" dirty="0">
                <a:solidFill>
                  <a:srgbClr val="1F2937"/>
                </a:solidFill>
                <a:latin typeface="Segoe UI"/>
              </a:rPr>
              <a:t>:</a:t>
            </a:r>
            <a:r>
              <a:rPr sz="1000" b="0" dirty="0">
                <a:solidFill>
                  <a:srgbClr val="6B7280"/>
                </a:solidFill>
                <a:latin typeface="Segoe UI"/>
              </a:rPr>
              <a:t> All 3 portals functional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67728" y="60579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2937"/>
                </a:solidFill>
                <a:latin typeface="Segoe UI"/>
              </a:rPr>
              <a:t>Week 6:</a:t>
            </a:r>
            <a:r>
              <a:rPr sz="1000" b="0">
                <a:solidFill>
                  <a:srgbClr val="6B7280"/>
                </a:solidFill>
                <a:latin typeface="Segoe UI"/>
              </a:rPr>
              <a:t> Payments end-to-end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2822" y="600532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dirty="0">
                <a:solidFill>
                  <a:srgbClr val="1F2937"/>
                </a:solidFill>
                <a:latin typeface="Segoe UI"/>
              </a:rPr>
              <a:t>Week 10:</a:t>
            </a:r>
            <a:r>
              <a:rPr sz="1000" b="0" dirty="0">
                <a:solidFill>
                  <a:srgbClr val="6B7280"/>
                </a:solidFill>
                <a:latin typeface="Segoe UI"/>
              </a:rPr>
              <a:t> Live demo to stakeholders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  <a:latin typeface="Segoe UI"/>
              </a:defRPr>
            </a:pPr>
            <a:r>
              <a:t>D.A.K — Digital Access Key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0" y="64922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CA3AF"/>
                </a:solidFill>
                <a:latin typeface="Segoe UI"/>
              </a:defRPr>
            </a:pPr>
            <a: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C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228600"/>
            <a:ext cx="11460175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563EB"/>
                </a:solidFill>
                <a:latin typeface="Segoe UI"/>
              </a:defRPr>
            </a:pPr>
            <a:r>
              <a:t>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4692" y="274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Segoe UI"/>
              </a:defRPr>
            </a:pPr>
            <a:r>
              <a:rPr dirty="0"/>
              <a:t>D.A.K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4747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Segoe UI"/>
              </a:defRPr>
            </a:pPr>
            <a:r>
              <a:t>POC Development 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60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2937"/>
                </a:solidFill>
                <a:latin typeface="Segoe UI"/>
              </a:defRPr>
            </a:pPr>
            <a:r>
              <a:t>Cost Breakdown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44167"/>
            <a:ext cx="2560320" cy="4571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Segoe UI"/>
              </a:defRPr>
            </a:pPr>
            <a:r>
              <a:t>Development, infrastructure &amp; operational costs for the 8–10 week POC phase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48790"/>
            <a:ext cx="3566160" cy="2788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748790"/>
            <a:ext cx="3566160" cy="41148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182194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DEVELOPMENT COST (ONE-TIME)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51710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Wk 1-2: VPS Setup &amp; Infra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11603" y="2251710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498598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2544317"/>
            <a:ext cx="20683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rPr dirty="0" err="1"/>
              <a:t>Wk</a:t>
            </a:r>
            <a:r>
              <a:rPr dirty="0"/>
              <a:t> 3-</a:t>
            </a:r>
            <a:r>
              <a:rPr lang="en-US" dirty="0"/>
              <a:t>5</a:t>
            </a:r>
            <a:r>
              <a:rPr dirty="0"/>
              <a:t>: Core Platform Dev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11603" y="2544317"/>
            <a:ext cx="14977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rPr dirty="0"/>
              <a:t>$</a:t>
            </a:r>
            <a:r>
              <a:rPr lang="en-US" dirty="0"/>
              <a:t>4</a:t>
            </a:r>
            <a:r>
              <a:rPr dirty="0"/>
              <a:t>,500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791205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2836925"/>
            <a:ext cx="20683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rPr dirty="0" err="1"/>
              <a:t>Wk</a:t>
            </a:r>
            <a:r>
              <a:rPr dirty="0"/>
              <a:t> </a:t>
            </a:r>
            <a:r>
              <a:rPr lang="en-US" dirty="0"/>
              <a:t>6</a:t>
            </a:r>
            <a:r>
              <a:rPr dirty="0"/>
              <a:t>-</a:t>
            </a:r>
            <a:r>
              <a:rPr lang="en-US" dirty="0"/>
              <a:t>8</a:t>
            </a:r>
            <a:r>
              <a:rPr dirty="0"/>
              <a:t>: Payments &amp; Access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11603" y="2836925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083813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3376421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4652" y="3113531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Wk 9-10: Testing &amp;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16175" y="3113531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$1,000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652" y="3360419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0080" y="3760469"/>
            <a:ext cx="3200400" cy="182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" y="383362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Segoe UI"/>
              </a:defRPr>
            </a:pPr>
            <a:r>
              <a:t>Development Total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61972" y="383362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2563EB"/>
                </a:solidFill>
                <a:latin typeface="Segoe UI"/>
              </a:defRPr>
            </a:pPr>
            <a:r>
              <a:t>$8,500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80" y="1748790"/>
            <a:ext cx="3566160" cy="2788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297680" y="1748790"/>
            <a:ext cx="3566160" cy="41148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80560" y="182194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INFRASTRUCTURE (MONTHLY)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2251710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VPS Server (4 vCPU, 8GB)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52083" y="2251710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$40/mo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80560" y="2498598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480560" y="2544317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Domain &amp; SSL Certificate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2083" y="2544317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$15/mo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560" y="2791205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480560" y="2836925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Email Service (SES/SendGrid)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52083" y="2836925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$20/mo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80560" y="3083813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480560" y="3129533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Streaming CDN (basic tier)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52083" y="3129533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$50/mo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80560" y="3376421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480560" y="3422141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AI API Costs (LLM tokens)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52083" y="3422141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$30/mo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80560" y="3669029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480560" y="3714749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Backups &amp; Monitoring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52083" y="3714749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$25/mo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80560" y="3961637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480560" y="4053077"/>
            <a:ext cx="3200400" cy="182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480560" y="4126229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Segoe UI"/>
              </a:defRPr>
            </a:pPr>
            <a:r>
              <a:t>Monthly Total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02452" y="4126229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2563EB"/>
                </a:solidFill>
                <a:latin typeface="Segoe UI"/>
              </a:defRPr>
            </a:pPr>
            <a:r>
              <a:t>$180/mo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138160" y="1748790"/>
            <a:ext cx="3566160" cy="2788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8138160" y="1748790"/>
            <a:ext cx="3566160" cy="41148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321040" y="182194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THIRD-PARTY SERVICES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2251710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Stripe Processing Fee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92563" y="2251710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2.9% + $0.30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2498598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321040" y="2544317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OAuth (Google/Apple)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92563" y="2544317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Free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21040" y="2791205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321040" y="2836925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Push Notifications (Firebase)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92563" y="2836925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Free tier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21040" y="3083813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321040" y="3129533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AI/LLM API (usage-based)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92563" y="3129533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~$0.01/query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21040" y="3376421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321040" y="3422141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Streaming (usage-based)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92563" y="3422141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~$0.01/min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321040" y="3669029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8321040" y="3760469"/>
            <a:ext cx="3200400" cy="182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321040" y="383362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Segoe UI"/>
              </a:defRPr>
            </a:pPr>
            <a:r>
              <a:t>Variable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42932" y="383362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2563EB"/>
                </a:solidFill>
                <a:latin typeface="Segoe UI"/>
              </a:defRPr>
            </a:pPr>
            <a:r>
              <a:t>Usage-based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57200" y="4743449"/>
            <a:ext cx="5303520" cy="1618487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457200" y="4743450"/>
            <a:ext cx="5303520" cy="411480"/>
          </a:xfrm>
          <a:prstGeom prst="rect">
            <a:avLst/>
          </a:prstGeom>
          <a:solidFill>
            <a:srgbClr val="CFDFFD"/>
          </a:solidFill>
          <a:ln w="63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40080" y="4816602"/>
            <a:ext cx="49377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TOTAL INVESTMENT SUMMARY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" y="5246370"/>
            <a:ext cx="307604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One-Time Development (8-10 wks)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15030" y="5246370"/>
            <a:ext cx="22274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$8,500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0080" y="5493258"/>
            <a:ext cx="4937759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40080" y="5538978"/>
            <a:ext cx="307604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Infrastructure (3 months)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15030" y="5538978"/>
            <a:ext cx="22274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$540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40080" y="5785866"/>
            <a:ext cx="4937759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640080" y="5877306"/>
            <a:ext cx="4937759" cy="182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40080" y="595045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Segoe UI"/>
              </a:defRPr>
            </a:pPr>
            <a:r>
              <a:rPr dirty="0"/>
              <a:t>POC Total Investment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843784" y="595045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2563EB"/>
                </a:solidFill>
                <a:latin typeface="Segoe UI"/>
              </a:defRPr>
            </a:pPr>
            <a:r>
              <a:t>~$10,000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035040" y="4743450"/>
            <a:ext cx="5669280" cy="161848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6035040" y="4743450"/>
            <a:ext cx="5669280" cy="3657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6263640" y="480745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ASSUMPTIONS &amp; NOTES</a:t>
            </a:r>
          </a:p>
        </p:txBody>
      </p:sp>
      <p:sp>
        <p:nvSpPr>
          <p:cNvPr id="90" name="Oval 89"/>
          <p:cNvSpPr/>
          <p:nvPr/>
        </p:nvSpPr>
        <p:spPr>
          <a:xfrm>
            <a:off x="6309360" y="5228082"/>
            <a:ext cx="45720" cy="457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446520" y="518236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Development rate: ~$50/hr (mid-market full-stack rate)</a:t>
            </a:r>
          </a:p>
        </p:txBody>
      </p:sp>
      <p:sp>
        <p:nvSpPr>
          <p:cNvPr id="92" name="Oval 91"/>
          <p:cNvSpPr/>
          <p:nvPr/>
        </p:nvSpPr>
        <p:spPr>
          <a:xfrm>
            <a:off x="6309360" y="5410962"/>
            <a:ext cx="45720" cy="457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6446520" y="536524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VPS: DigitalOcean/Hetzner tier with Docker pre-installed</a:t>
            </a:r>
          </a:p>
        </p:txBody>
      </p:sp>
      <p:sp>
        <p:nvSpPr>
          <p:cNvPr id="96" name="Oval 95"/>
          <p:cNvSpPr/>
          <p:nvPr/>
        </p:nvSpPr>
        <p:spPr>
          <a:xfrm>
            <a:off x="6309360" y="5628132"/>
            <a:ext cx="45720" cy="457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6446520" y="558241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Excludes: Mobile apps, dedicated support, multi-region deployment</a:t>
            </a:r>
          </a:p>
        </p:txBody>
      </p:sp>
      <p:sp>
        <p:nvSpPr>
          <p:cNvPr id="98" name="Oval 97"/>
          <p:cNvSpPr/>
          <p:nvPr/>
        </p:nvSpPr>
        <p:spPr>
          <a:xfrm>
            <a:off x="6309360" y="5811012"/>
            <a:ext cx="45720" cy="457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6446520" y="576529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Timeline assumes single developer, can accelerate with team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6537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  <a:latin typeface="Segoe UI"/>
              </a:defRPr>
            </a:pPr>
            <a:r>
              <a:t>D.A.K — Digital Access Key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44000" y="6537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CA3AF"/>
                </a:solidFill>
                <a:latin typeface="Segoe UI"/>
              </a:defRPr>
            </a:pPr>
            <a: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13</TotalTime>
  <Words>729</Words>
  <Application>Microsoft Office PowerPoint</Application>
  <PresentationFormat>Widescreen</PresentationFormat>
  <Paragraphs>141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Calibri</vt:lpstr>
      <vt:lpstr>Century Schoolbook</vt:lpstr>
      <vt:lpstr>Segoe UI</vt:lpstr>
      <vt:lpstr>Wingdings 2</vt:lpstr>
      <vt:lpstr>View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Krishna Mohapatra</cp:lastModifiedBy>
  <cp:revision>10</cp:revision>
  <dcterms:created xsi:type="dcterms:W3CDTF">2013-01-27T09:14:16Z</dcterms:created>
  <dcterms:modified xsi:type="dcterms:W3CDTF">2026-02-14T09:34:07Z</dcterms:modified>
  <cp:category/>
</cp:coreProperties>
</file>