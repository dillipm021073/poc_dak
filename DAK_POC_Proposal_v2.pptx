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D.A.K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Digital Access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POC Development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Segoe UI"/>
              </a:defRPr>
            </a:pPr>
            <a:r>
              <a:t>Scope of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Segoe UI"/>
              </a:defRPr>
            </a:pPr>
            <a:r>
              <a:t>A multi-portal faith-community platform with Spiritual AI Guru Bot, VPS deployment &amp; Docker orchestration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PLATFORM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029200" cy="5943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71216"/>
            <a:ext cx="4663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Segoe UI"/>
              </a:rPr>
              <a:t>Admin Portal (Port 3001)</a:t>
            </a:r>
          </a:p>
          <a:p>
            <a:pPr>
              <a:spcBef>
                <a:spcPts val="200"/>
              </a:spcBef>
              <a:defRPr sz="900">
                <a:solidFill>
                  <a:srgbClr val="999999"/>
                </a:solidFill>
                <a:latin typeface="Segoe UI"/>
              </a:defRPr>
            </a:pPr>
            <a:r>
              <a:t>Platform admin dashboard — approve communities, view GMV, manage users, payment tracking, waiting list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11296"/>
            <a:ext cx="5029200" cy="5943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47872"/>
            <a:ext cx="4663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Segoe UI"/>
              </a:rPr>
              <a:t>Institute Portal (Port 3002)</a:t>
            </a:r>
          </a:p>
          <a:p>
            <a:pPr>
              <a:spcBef>
                <a:spcPts val="200"/>
              </a:spcBef>
              <a:defRPr sz="900">
                <a:solidFill>
                  <a:srgbClr val="999999"/>
                </a:solidFill>
                <a:latin typeface="Segoe UI"/>
              </a:defRPr>
            </a:pPr>
            <a:r>
              <a:t>Community admin — manage branding/settings, create events, schedule &amp; run live streams, messaging with members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87952"/>
            <a:ext cx="5029200" cy="5943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87952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224528"/>
            <a:ext cx="4663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Segoe UI"/>
              </a:rPr>
              <a:t>User Portal (Port 3003)</a:t>
            </a:r>
          </a:p>
          <a:p>
            <a:pPr>
              <a:spcBef>
                <a:spcPts val="200"/>
              </a:spcBef>
              <a:defRPr sz="900">
                <a:solidFill>
                  <a:srgbClr val="999999"/>
                </a:solidFill>
                <a:latin typeface="Segoe UI"/>
              </a:defRPr>
            </a:pPr>
            <a:r>
              <a:t>End user experience — join via invite, community overview with live stream, support widget, upcoming events, calendar, messaging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64608"/>
            <a:ext cx="5029200" cy="5943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864608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01184"/>
            <a:ext cx="4663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Segoe UI"/>
              </a:rPr>
              <a:t>API Backend (Port 3000)</a:t>
            </a:r>
          </a:p>
          <a:p>
            <a:pPr>
              <a:spcBef>
                <a:spcPts val="200"/>
              </a:spcBef>
              <a:defRPr sz="900">
                <a:solidFill>
                  <a:srgbClr val="999999"/>
                </a:solidFill>
                <a:latin typeface="Segoe UI"/>
              </a:defRPr>
            </a:pPr>
            <a:r>
              <a:t>Node.js/Express REST API with PostgreSQL — JWT auth, role-based access, 16+ API endpoint groups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541264"/>
            <a:ext cx="5029200" cy="5943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541264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577840"/>
            <a:ext cx="4663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Segoe UI"/>
              </a:rPr>
              <a:t>Spiritual AI Guru Bot</a:t>
            </a:r>
          </a:p>
          <a:p>
            <a:pPr>
              <a:spcBef>
                <a:spcPts val="200"/>
              </a:spcBef>
              <a:defRPr sz="900">
                <a:solidFill>
                  <a:srgbClr val="999999"/>
                </a:solidFill>
                <a:latin typeface="Segoe UI"/>
              </a:defRPr>
            </a:pPr>
            <a:r>
              <a:t>AI-powered spiritual guidance chatbot — context-aware responses per community type, scripture references, conversational interface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6217920"/>
            <a:ext cx="5029200" cy="5943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6217920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6254496"/>
            <a:ext cx="4663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Segoe UI"/>
              </a:rPr>
              <a:t>VPS &amp; Docker Deployment</a:t>
            </a:r>
          </a:p>
          <a:p>
            <a:pPr>
              <a:spcBef>
                <a:spcPts val="200"/>
              </a:spcBef>
              <a:defRPr sz="900">
                <a:solidFill>
                  <a:srgbClr val="999999"/>
                </a:solidFill>
                <a:latin typeface="Segoe UI"/>
              </a:defRPr>
            </a:pPr>
            <a:r>
              <a:t>Production VPS setup, Docker Compose orchestration of all services, SSL/TLS, domain configuration, automated backups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KEY FEATURES IN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8346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Controlled Access</a:t>
            </a:r>
            <a:r>
              <a:rPr sz="900">
                <a:solidFill>
                  <a:srgbClr val="999999"/>
                </a:solidFill>
                <a:latin typeface="Segoe UI"/>
              </a:rPr>
              <a:t>  —  QR/Invite-only onboarding, Chinese-wall isolation across 4 community types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286207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2186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Live Streaming</a:t>
            </a:r>
            <a:r>
              <a:rPr sz="900">
                <a:solidFill>
                  <a:srgbClr val="999999"/>
                </a:solidFill>
                <a:latin typeface="Segoe UI"/>
              </a:rPr>
              <a:t>  —  Embedded player with LIVE badge, viewer count, playback controls, recording gating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324612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6027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Support &amp; Payments</a:t>
            </a:r>
            <a:r>
              <a:rPr sz="900">
                <a:solidFill>
                  <a:srgbClr val="999999"/>
                </a:solidFill>
                <a:latin typeface="Segoe UI"/>
              </a:rPr>
              <a:t>  —  One-time/Monthly toggle, preset amounts, custom input, 5% platform fee</a:t>
            </a:r>
          </a:p>
        </p:txBody>
      </p:sp>
      <p:sp>
        <p:nvSpPr>
          <p:cNvPr id="34" name="Oval 33"/>
          <p:cNvSpPr/>
          <p:nvPr/>
        </p:nvSpPr>
        <p:spPr>
          <a:xfrm>
            <a:off x="6217920" y="363016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9867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Events &amp; Calendar</a:t>
            </a:r>
            <a:r>
              <a:rPr sz="900">
                <a:solidFill>
                  <a:srgbClr val="999999"/>
                </a:solidFill>
                <a:latin typeface="Segoe UI"/>
              </a:rPr>
              <a:t>  —  Create/manage events, upcoming events sidebar, mini calendar, ICS export</a:t>
            </a:r>
          </a:p>
        </p:txBody>
      </p:sp>
      <p:sp>
        <p:nvSpPr>
          <p:cNvPr id="36" name="Oval 35"/>
          <p:cNvSpPr/>
          <p:nvPr/>
        </p:nvSpPr>
        <p:spPr>
          <a:xfrm>
            <a:off x="6217920" y="401421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3708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Spiritual AI Guru Bot</a:t>
            </a:r>
            <a:r>
              <a:rPr sz="900">
                <a:solidFill>
                  <a:srgbClr val="999999"/>
                </a:solidFill>
                <a:latin typeface="Segoe UI"/>
              </a:rPr>
              <a:t>  —  AI chatbot trained per faith — scripture guidance, spiritual Q&amp;A, community context</a:t>
            </a:r>
          </a:p>
        </p:txBody>
      </p:sp>
      <p:sp>
        <p:nvSpPr>
          <p:cNvPr id="38" name="Oval 37"/>
          <p:cNvSpPr/>
          <p:nvPr/>
        </p:nvSpPr>
        <p:spPr>
          <a:xfrm>
            <a:off x="6217920" y="4398264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7548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Private Messaging</a:t>
            </a:r>
            <a:r>
              <a:rPr sz="900">
                <a:solidFill>
                  <a:srgbClr val="999999"/>
                </a:solidFill>
                <a:latin typeface="Segoe UI"/>
              </a:rPr>
              <a:t>  —  Threaded User-Admin inbox, real-time threads, block capability</a:t>
            </a:r>
          </a:p>
        </p:txBody>
      </p:sp>
      <p:sp>
        <p:nvSpPr>
          <p:cNvPr id="40" name="Oval 39"/>
          <p:cNvSpPr/>
          <p:nvPr/>
        </p:nvSpPr>
        <p:spPr>
          <a:xfrm>
            <a:off x="6217920" y="478231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1389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Community Management</a:t>
            </a:r>
            <a:r>
              <a:rPr sz="900">
                <a:solidFill>
                  <a:srgbClr val="999999"/>
                </a:solidFill>
                <a:latin typeface="Segoe UI"/>
              </a:rPr>
              <a:t>  —  Onboarding, branding, member management, stream scheduling &amp; limits</a:t>
            </a:r>
          </a:p>
        </p:txBody>
      </p:sp>
      <p:sp>
        <p:nvSpPr>
          <p:cNvPr id="42" name="Oval 41"/>
          <p:cNvSpPr/>
          <p:nvPr/>
        </p:nvSpPr>
        <p:spPr>
          <a:xfrm>
            <a:off x="6217920" y="516636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52297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Admin Dashboard</a:t>
            </a:r>
            <a:r>
              <a:rPr sz="900">
                <a:solidFill>
                  <a:srgbClr val="999999"/>
                </a:solidFill>
                <a:latin typeface="Segoe UI"/>
              </a:rPr>
              <a:t>  —  Platform metrics (GMV, users, subscribers), community approve/suspend, payments</a:t>
            </a:r>
          </a:p>
        </p:txBody>
      </p:sp>
      <p:sp>
        <p:nvSpPr>
          <p:cNvPr id="44" name="Oval 43"/>
          <p:cNvSpPr/>
          <p:nvPr/>
        </p:nvSpPr>
        <p:spPr>
          <a:xfrm>
            <a:off x="6217920" y="555040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9070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VPS Production Setup</a:t>
            </a:r>
            <a:r>
              <a:rPr sz="900">
                <a:solidFill>
                  <a:srgbClr val="999999"/>
                </a:solidFill>
                <a:latin typeface="Segoe UI"/>
              </a:rPr>
              <a:t>  —  Server provisioning, Docker deployment, SSL, domain, monitoring, backups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593445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62910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  </a:t>
            </a:r>
            <a:r>
              <a:rPr sz="1100" b="1">
                <a:solidFill>
                  <a:srgbClr val="1F2937"/>
                </a:solidFill>
                <a:latin typeface="Segoe UI"/>
              </a:rPr>
              <a:t>Responsive UI</a:t>
            </a:r>
            <a:r>
              <a:rPr sz="900">
                <a:solidFill>
                  <a:srgbClr val="999999"/>
                </a:solidFill>
                <a:latin typeface="Segoe UI"/>
              </a:rPr>
              <a:t>  —  Apple-inspired design, two-column layout, Star of David branding, mobile-ready</a:t>
            </a:r>
          </a:p>
        </p:txBody>
      </p:sp>
      <p:sp>
        <p:nvSpPr>
          <p:cNvPr id="48" name="Oval 47"/>
          <p:cNvSpPr/>
          <p:nvPr/>
        </p:nvSpPr>
        <p:spPr>
          <a:xfrm>
            <a:off x="6217920" y="6318504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D.A.K — Digital Access Key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6446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D.A.K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Digital Access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POC Development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Segoe UI"/>
              </a:defRPr>
            </a:pPr>
            <a:r>
              <a:t>Timeline to Build &amp; Demo the 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Segoe UI"/>
              </a:defRPr>
            </a:pPr>
            <a:r>
              <a:t>8–10 week development plan including VPS setup &amp; Spiritual AI Guru Bot — single full-stack developer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2057400" cy="3383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578608"/>
            <a:ext cx="9144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WEEK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t>VPS Setup &amp;</a:t>
            </a:r>
            <a:br/>
            <a:r>
              <a:t>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64992"/>
            <a:ext cx="18745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VPS provisioning &amp; config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Docker environment setup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PostgreSQL schema &amp; seeds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SSL/TLS &amp; domain setup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CI/CD pipeline basics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JWT auth &amp; OAuth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Role-based access control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98063" y="3931920"/>
            <a:ext cx="9144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98648" y="2468880"/>
            <a:ext cx="2057400" cy="33832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90088" y="2578608"/>
            <a:ext cx="9144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WEEK 3–4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90779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t>Core Platform</a:t>
            </a:r>
            <a:br/>
            <a:r>
              <a:t>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364992"/>
            <a:ext cx="18745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3 portal UIs (Admin,</a:t>
            </a:r>
            <a:br/>
            <a:r>
              <a:t>  Institute, User)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Community management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Events &amp; calendar system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Live streaming integration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Messaging system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Notifications engine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65192" y="3931920"/>
            <a:ext cx="9144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468880"/>
            <a:ext cx="2057400" cy="33832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57216" y="2578608"/>
            <a:ext cx="9144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WEEK 5–6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90779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t>Payments &amp;</a:t>
            </a:r>
            <a:br/>
            <a:r>
              <a:t>Access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364992"/>
            <a:ext cx="18745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Stripe sandbox integration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One-time &amp; recurring flows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Support widget with presets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Platform fee (sliding scale)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Access duration logic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Webhook &amp; refund handling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32320" y="3931920"/>
            <a:ext cx="9144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32904" y="2468880"/>
            <a:ext cx="2057400" cy="3383280"/>
          </a:xfrm>
          <a:prstGeom prst="roundRect">
            <a:avLst/>
          </a:prstGeom>
          <a:solidFill>
            <a:srgbClr val="E9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78608"/>
            <a:ext cx="9144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WEEK 7–8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290779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t>Spiritual AI</a:t>
            </a:r>
            <a:br/>
            <a:r>
              <a:t>Guru 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3364992"/>
            <a:ext cx="18745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AI model selection &amp; setup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Faith-specific training data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Context-aware responses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Scripture reference engine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Chat UI integration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Content safety guardrails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99448" y="3931920"/>
            <a:ext cx="9144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00032" y="2468880"/>
            <a:ext cx="2057400" cy="338328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91472" y="2578608"/>
            <a:ext cx="91440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WEEK 9–10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1472" y="2907792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t>Testing, Polish</a:t>
            </a:r>
            <a:br/>
            <a:r>
              <a:t>&amp;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3364992"/>
            <a:ext cx="187451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End-to-end testing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Security audit &amp; hardening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UI/UX polish to mockup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Production deployment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Documentation &amp; handover</a:t>
            </a:r>
          </a:p>
          <a:p>
            <a:pPr>
              <a:spcBef>
                <a:spcPts val="400"/>
              </a:spcBef>
              <a:defRPr sz="1000">
                <a:solidFill>
                  <a:srgbClr val="1F2937"/>
                </a:solidFill>
                <a:latin typeface="Segoe UI"/>
              </a:defRPr>
            </a:pPr>
            <a:r>
              <a:t>  Stakeholder live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KEY MILESTONES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Segoe UI"/>
              </a:rPr>
              <a:t>Week 2:</a:t>
            </a:r>
            <a:r>
              <a:rPr sz="1000">
                <a:solidFill>
                  <a:srgbClr val="999999"/>
                </a:solidFill>
                <a:latin typeface="Segoe UI"/>
              </a:rPr>
              <a:t> VPS live, auth working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62179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Segoe UI"/>
              </a:rPr>
              <a:t>Week 4:</a:t>
            </a:r>
            <a:r>
              <a:rPr sz="1000">
                <a:solidFill>
                  <a:srgbClr val="999999"/>
                </a:solidFill>
                <a:latin typeface="Segoe UI"/>
              </a:rPr>
              <a:t> All 3 portals functional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62179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Segoe UI"/>
              </a:rPr>
              <a:t>Week 6:</a:t>
            </a:r>
            <a:r>
              <a:rPr sz="1000">
                <a:solidFill>
                  <a:srgbClr val="999999"/>
                </a:solidFill>
                <a:latin typeface="Segoe UI"/>
              </a:rPr>
              <a:t> Payments end-to-end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62179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Segoe UI"/>
              </a:rPr>
              <a:t>Week 8:</a:t>
            </a:r>
            <a:r>
              <a:rPr sz="1000">
                <a:solidFill>
                  <a:srgbClr val="999999"/>
                </a:solidFill>
                <a:latin typeface="Segoe UI"/>
              </a:rPr>
              <a:t> AI Guru Bot integrated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62179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2937"/>
                </a:solidFill>
                <a:latin typeface="Segoe UI"/>
              </a:rPr>
              <a:t>Week 10:</a:t>
            </a:r>
            <a:r>
              <a:rPr sz="1000">
                <a:solidFill>
                  <a:srgbClr val="999999"/>
                </a:solidFill>
                <a:latin typeface="Segoe UI"/>
              </a:rPr>
              <a:t> Live demo to stakeholders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D.A.K — Digital Access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6446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Segoe UI"/>
              </a:defRPr>
            </a:pPr>
            <a:r>
              <a:t>D.A.K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Digital Access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Segoe UI"/>
              </a:defRPr>
            </a:pPr>
            <a:r>
              <a:t>POC Development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F2937"/>
                </a:solidFill>
                <a:latin typeface="Segoe UI"/>
              </a:defRPr>
            </a:pPr>
            <a:r>
              <a:t>Cost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9999"/>
                </a:solidFill>
                <a:latin typeface="Segoe UI"/>
              </a:defRPr>
            </a:pPr>
            <a:r>
              <a:t>Development, infrastructure &amp; operational costs for the 8–10 week POC 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69848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347472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DEVELOPMENT COST (ONE-TIME)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Wk 1-2: VPS Setup &amp;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5" y="292608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$1,500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18211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Wk 3-4: Core Platform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5" y="324612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$2,500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50215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Wk 5-6: Payments &amp;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5" y="356616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$1,500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2219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Wk 7-8: Spiritual AI Guru 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42615" y="38862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$2,000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14223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Wk 9-10: Testing &amp;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42615" y="420624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$1,000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46227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571999"/>
            <a:ext cx="310896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63439"/>
            <a:ext cx="1911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Development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663439"/>
            <a:ext cx="1563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$8,500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2377440"/>
            <a:ext cx="347472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INFRASTRUCTURE (MONTHLY)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92608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VPS Server (4 vCPU, 8GB)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292608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$40/mo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18211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24612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Domain &amp; SSL Certificate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324612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$15/mo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50215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356616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Email Service (SES/SendGrid)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356616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$20/mo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82219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388620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Streaming CDN (basic tier)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38862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$50/mo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414223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420624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AI API Costs (LLM tokens)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420624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$30/mo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446227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4526279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Backups &amp; Monitoring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1656" y="4526279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$25/mo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478231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63440" y="4892039"/>
            <a:ext cx="310896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4983479"/>
            <a:ext cx="1911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Monthly Total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983479"/>
            <a:ext cx="1563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$180/mo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2377440"/>
            <a:ext cx="3474720" cy="2926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514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THIRD-PARTY SERVICES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292608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Stripe Processing Fee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0696" y="292608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2.9% + $0.30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318211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324612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OAuth (Google/Apple)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0696" y="324612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Free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0" y="350215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0" y="356616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Push Notifications (Firebase)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0696" y="356616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Free tier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382219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388620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AI/LLM API (usage-based)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0696" y="38862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~$0.01/query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12480" y="414223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4206240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Streaming (usage-based)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40696" y="420624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~$0.01/min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12480" y="4462272"/>
            <a:ext cx="310896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12480" y="4571999"/>
            <a:ext cx="310896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4663439"/>
            <a:ext cx="1911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Variable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66960" y="4663439"/>
            <a:ext cx="15636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Usage-based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5486400"/>
            <a:ext cx="502920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" y="5623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TOTAL INVESTMENT SUMMARY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60350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One-Time Development (8-10 wks)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97580" y="6035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$8,500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" y="6291072"/>
            <a:ext cx="466344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" y="6355079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  <a:latin typeface="Segoe UI"/>
              </a:defRPr>
            </a:pPr>
            <a:r>
              <a:t>Infrastructure (3 months)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97580" y="63550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F2937"/>
                </a:solidFill>
                <a:latin typeface="Segoe UI"/>
              </a:defRPr>
            </a:pPr>
            <a:r>
              <a:t>$540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4400" y="6611112"/>
            <a:ext cx="4663440" cy="63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4400" y="6720839"/>
            <a:ext cx="466344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" y="6812279"/>
            <a:ext cx="27660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POC Total Investment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46120" y="6812279"/>
            <a:ext cx="22631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2563EB"/>
                </a:solidFill>
                <a:latin typeface="Segoe UI"/>
              </a:defRPr>
            </a:pPr>
            <a:r>
              <a:t>~$10,000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035040" y="5486400"/>
            <a:ext cx="5669280" cy="118872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920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ASSUMPTIONS &amp; NOTES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0" y="58064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Development rate: ~$50/hr (mid-market full-stack rate)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VPS: DigitalOcean/Hetzner tier with Docker pre-installed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AI Guru Bot uses LLM API (e.g. Claude/OpenAI) with faith-specific prompts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Excludes: Mobile apps, dedicated support, multi-region deployment</a:t>
            </a:r>
          </a:p>
          <a:p>
            <a:pPr>
              <a:spcBef>
                <a:spcPts val="200"/>
              </a:spcBef>
              <a:defRPr sz="1000">
                <a:solidFill>
                  <a:srgbClr val="999999"/>
                </a:solidFill>
                <a:latin typeface="Segoe UI"/>
              </a:defRPr>
            </a:pPr>
            <a:r>
              <a:t>  Timeline assumes single developer, can accelerate with team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D.A.K — Digital Access Key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0" y="6446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